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(null)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676" r:id="rId22"/>
    <p:sldId id="677" r:id="rId23"/>
    <p:sldId id="626" r:id="rId24"/>
    <p:sldId id="675" r:id="rId25"/>
    <p:sldId id="627" r:id="rId26"/>
    <p:sldId id="629" r:id="rId27"/>
    <p:sldId id="618" r:id="rId28"/>
    <p:sldId id="630" r:id="rId29"/>
    <p:sldId id="631" r:id="rId30"/>
    <p:sldId id="632" r:id="rId31"/>
    <p:sldId id="633" r:id="rId32"/>
    <p:sldId id="634" r:id="rId33"/>
    <p:sldId id="635" r:id="rId34"/>
    <p:sldId id="636" r:id="rId35"/>
    <p:sldId id="637" r:id="rId36"/>
    <p:sldId id="639" r:id="rId37"/>
    <p:sldId id="638" r:id="rId38"/>
    <p:sldId id="672" r:id="rId39"/>
    <p:sldId id="640" r:id="rId40"/>
    <p:sldId id="642" r:id="rId41"/>
    <p:sldId id="643" r:id="rId42"/>
    <p:sldId id="645" r:id="rId43"/>
    <p:sldId id="670" r:id="rId44"/>
    <p:sldId id="646" r:id="rId45"/>
    <p:sldId id="647" r:id="rId46"/>
    <p:sldId id="644" r:id="rId47"/>
    <p:sldId id="648" r:id="rId48"/>
    <p:sldId id="650" r:id="rId49"/>
    <p:sldId id="656" r:id="rId50"/>
    <p:sldId id="657" r:id="rId51"/>
    <p:sldId id="658" r:id="rId52"/>
    <p:sldId id="655" r:id="rId53"/>
    <p:sldId id="651" r:id="rId54"/>
    <p:sldId id="652" r:id="rId5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53"/>
    <p:restoredTop sz="94617"/>
  </p:normalViewPr>
  <p:slideViewPr>
    <p:cSldViewPr snapToGrid="0" snapToObjects="1">
      <p:cViewPr varScale="1">
        <p:scale>
          <a:sx n="125" d="100"/>
          <a:sy n="125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9F02A-1F2C-5742-B3EE-A6E03C19A541}" type="datetimeFigureOut">
              <a:rPr lang="it-IT" smtClean="0"/>
              <a:t>20/09/20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370E3-D881-644D-ABBB-3AC440AB54E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4960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6" name="Shape 43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spcBef>
                <a:spcPts val="400"/>
              </a:spcBef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L’adolescente inglese sara’ ricercato anche dalla legge italiana!</a:t>
            </a:r>
          </a:p>
        </p:txBody>
      </p:sp>
    </p:spTree>
    <p:extLst>
      <p:ext uri="{BB962C8B-B14F-4D97-AF65-F5344CB8AC3E}">
        <p14:creationId xmlns:p14="http://schemas.microsoft.com/office/powerpoint/2010/main" val="2545999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23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Sicurezza: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Assenza di rischio o pericolo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Sicurezza Informatica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Prevenzione o protezione contro,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Accesso, distruzione o alterazione di risorse/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informazioni da parte di utenti non autorizzati</a:t>
            </a:r>
          </a:p>
          <a:p>
            <a:pPr eaLnBrk="1" hangingPunct="1"/>
            <a:endParaRPr lang="it-IT" dirty="0">
              <a:latin typeface="Arial" pitchFamily="34" charset="0"/>
            </a:endParaRPr>
          </a:p>
          <a:p>
            <a:pPr eaLnBrk="1" hangingPunct="1"/>
            <a:endParaRPr lang="it-I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811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25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961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27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258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2412E-726E-F443-9D4B-7711E58657D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1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2412E-726E-F443-9D4B-7711E58657D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50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2412E-726E-F443-9D4B-7711E58657D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14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2412E-726E-F443-9D4B-7711E58657D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61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2412E-726E-F443-9D4B-7711E58657D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94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33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486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34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Snooping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/sniffing </a:t>
            </a:r>
          </a:p>
          <a:p>
            <a:pPr lvl="1"/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disclosure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data</a:t>
            </a:r>
          </a:p>
          <a:p>
            <a:pPr eaLnBrk="1" hangingPunct="1"/>
            <a:endParaRPr lang="it-I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491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35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Modification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1"/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Deception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data </a:t>
            </a:r>
          </a:p>
          <a:p>
            <a:pPr lvl="1"/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Disruption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usurpation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/>
            <a:endParaRPr lang="it-I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029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36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Inibition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service</a:t>
            </a:r>
          </a:p>
          <a:p>
            <a:pPr lvl="1"/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</a:t>
            </a:r>
          </a:p>
          <a:p>
            <a:pPr lvl="1"/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denial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service</a:t>
            </a:r>
          </a:p>
          <a:p>
            <a:pPr eaLnBrk="1" hangingPunct="1"/>
            <a:endParaRPr lang="it-I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996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37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Spoofing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masquerading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impersonation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/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Deception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usurpation</a:t>
            </a: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delegation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”=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authorized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masquerading</a:t>
            </a: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Repudiation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receipt</a:t>
            </a: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/>
            <a:endParaRPr lang="it-I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303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39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40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44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68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2412E-726E-F443-9D4B-7711E58657D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991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46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099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47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01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48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8679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49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394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50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771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51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392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52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11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53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3349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3FDB2-5C0C-4887-B47E-CD87AF78ED61}" type="slidenum">
              <a:rPr lang="it-IT" smtClean="0">
                <a:latin typeface="Tahoma" pitchFamily="34" charset="0"/>
              </a:rPr>
              <a:pPr/>
              <a:t>54</a:t>
            </a:fld>
            <a:endParaRPr lang="it-IT">
              <a:latin typeface="Tahoma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482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(null)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(null)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(null)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560E5E-6937-184C-96F4-17DCC846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E38ABD4-45A5-2E44-8CA0-35C24BCC8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0D55F6-CB8A-614B-A18C-D2D01A8D1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0070-396D-7448-BA52-A9D2F983BFD0}" type="datetime1">
              <a:rPr lang="it-IT" smtClean="0"/>
              <a:t>20/09/20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BAF68C-A029-D744-80BE-A22CA3B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E8281F-C5CA-2F49-B1BB-B2CCD649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52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26A9A0-B105-2A43-A427-52F5205A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3848B5-1549-EB4C-8838-21685ECF4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D83778-822D-C042-A6E2-56DE907D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DBC3-E112-F948-AB06-B68885B0DD3D}" type="datetime1">
              <a:rPr lang="it-IT" smtClean="0"/>
              <a:t>20/09/20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723CCD-DE80-1649-AA9F-765C4579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BEEF65-5ED7-3F41-BE8E-060EC23D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747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9A0C21-80FC-B949-9EEE-3E66D55B0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B57871-FA02-8449-B571-D7075E36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475D2D-737C-DE44-AE26-BB99E3AC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AF7B-AE7E-5A41-999C-C63CF0651BBC}" type="datetime1">
              <a:rPr lang="it-IT" smtClean="0"/>
              <a:t>20/09/20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43218C-7C4C-354A-A0D4-1107AF8F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705FE5-08E9-9C41-AF78-64681A9A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728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D9ACF2-3303-C24B-A35A-3F1E5309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3BBD0D-7D77-C44E-9DC1-3EC86B650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CF146CE-C4B7-E048-9AD3-DCEC754E8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864537-8067-EE4A-995F-8DBE786E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9DEA-6338-544D-A043-3A9243C57C9D}" type="datetime1">
              <a:rPr lang="it-IT" smtClean="0"/>
              <a:t>20/09/20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CF2E3E-F347-4D48-8893-8E75E189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4E3293-5ABB-8A46-AFDF-BE3A3F05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795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D8BB7B-469B-AD40-B1DB-C0822C7F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EC4B40-90C7-8A4F-A5F9-11CA480FA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0121EC-5D9F-054C-B859-337CBF6C5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860ECBB-29E9-8246-A250-197040E5A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53968D8-05D7-BA49-9D70-F184C58A7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595E8FD-56F0-4F4D-A6AE-E501BE72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67AA-BDD9-7445-80D0-50FEC69E5F18}" type="datetime1">
              <a:rPr lang="it-IT" smtClean="0"/>
              <a:t>20/09/20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73495C2-AA62-7142-BDAA-F8E32C39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C5C624D-6E95-104F-AAE4-8BC710D5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541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83A4D4-9F93-024C-AD50-46F6D075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6E54802-84D9-7B4C-8851-5F2D8A6D8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44F14-C3D5-FC43-960C-4F33A887EE58}" type="datetime1">
              <a:rPr lang="it-IT" smtClean="0"/>
              <a:t>20/09/20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F1EC47C-46BA-2049-8FCE-DF19F2D53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77B0C5B-D545-5B42-BCFB-51D25B6A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595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0EB99E9-EF17-8F40-818A-D5DEAB01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3397-DCCF-514C-8AB6-AA31BE251C81}" type="datetime1">
              <a:rPr lang="it-IT" smtClean="0"/>
              <a:t>20/09/20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62D4FF3-6418-7344-ABD0-B8F59A672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DEB554-EE4A-D34C-B501-5F4CED2F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4196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1BA6F0-ECB1-224E-B16C-5CDF9D96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C08527-FABF-D04F-A3A6-7CACCC159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DD8DC14-454A-3C45-964A-9ABB37FB9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BB21DDF-439A-D54A-AE5F-1D939FDFA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77F9-5F99-AD40-B420-B6B32175011C}" type="datetime1">
              <a:rPr lang="it-IT" smtClean="0"/>
              <a:t>20/09/20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76A504A-3CFC-E443-A6DB-5812F68F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355272-465A-4C4F-88AF-71B81511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3977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61619A-FE44-594E-A55C-8A14A5B6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AD388D-8162-5748-96B3-82DCD058C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0E3BBE-4A3D-7140-90E8-5E271FD40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E14E8F7-D1B7-B243-A71C-8AD2D61A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7AB31-EEEA-A049-B001-63B70EE7E8E6}" type="datetime1">
              <a:rPr lang="it-IT" smtClean="0"/>
              <a:t>20/09/20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BD252B-1C5F-D440-B7CE-976E2AE7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F12778F-0E7A-524A-BCEB-E10687CA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2146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9BF1D7-7F1E-9E40-9525-9DF58713A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89E130A-CED5-F841-B873-710B048C0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C3D9A2-2027-F34C-84EA-4333984A1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908E-6053-A24F-A13B-E1A2D9673E20}" type="datetime1">
              <a:rPr lang="it-IT" smtClean="0"/>
              <a:t>20/09/20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7CD85F-7AC7-B840-9929-FB7DFC664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79B7CE-5F85-FC42-AF42-3AAAC464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40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6A932B1-F3B8-0F4A-BAE9-A99418DB0C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7909502-5F1F-A641-BD71-CFEDAC814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1B1BB4-CE4F-B840-8C59-CB76AF89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BE0B-B3AF-8F41-8BD9-3E052666F5F0}" type="datetime1">
              <a:rPr lang="it-IT" smtClean="0"/>
              <a:t>20/09/20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9088D4-4D7D-D945-ABA2-F4AB2A2F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1BF4D8-E0B4-1942-A9B1-07C9A9B5B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5623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84707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/>
            </a:lvl1pPr>
            <a:extLst/>
          </a:lstStyle>
          <a:p>
            <a:fld id="{8F82E0A0-C266-4798-8C8F-B9F91E9DA37E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10871200" cy="4368800"/>
          </a:xfrm>
        </p:spPr>
        <p:txBody>
          <a:bodyPr/>
          <a:lstStyle/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it-IT" dirty="0"/>
          </a:p>
          <a:p>
            <a:pPr lvl="3"/>
            <a:r>
              <a:rPr lang="it-IT" dirty="0" err="1"/>
              <a:t>Fourth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lvl="4"/>
            <a:r>
              <a:rPr lang="it-IT" dirty="0" err="1"/>
              <a:t>Fifth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8CEA7E-737E-AE41-B515-56AEF3FD9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800" y="6346371"/>
            <a:ext cx="2032000" cy="43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9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12800" y="1803402"/>
            <a:ext cx="5181600" cy="4358165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459868" y="1803399"/>
            <a:ext cx="5181600" cy="4358167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sz="1600" b="0"/>
            </a:lvl1pPr>
            <a:extLst/>
          </a:lstStyle>
          <a:p>
            <a:fld id="{8F82E0A0-C266-4798-8C8F-B9F91E9DA37E}" type="slidenum">
              <a:rPr lang="en-US" smtClean="0"/>
              <a:pPr/>
              <a:t>‹N›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036AA8-57A2-9D4F-8BCE-BD44169493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800" y="6346371"/>
            <a:ext cx="2032000" cy="43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6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57480"/>
            <a:ext cx="10871200" cy="1341120"/>
          </a:xfrm>
        </p:spPr>
        <p:txBody>
          <a:bodyPr anchor="ctr" anchorCtr="0"/>
          <a:lstStyle>
            <a:lvl1pPr>
              <a:defRPr/>
            </a:lvl1pPr>
            <a:extLst/>
          </a:lstStyle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181600" cy="3505200"/>
          </a:xfrm>
        </p:spPr>
        <p:txBody>
          <a:bodyPr/>
          <a:lstStyle/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it-IT" dirty="0"/>
          </a:p>
          <a:p>
            <a:pPr lvl="3"/>
            <a:r>
              <a:rPr lang="it-IT" dirty="0" err="1"/>
              <a:t>Fourth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lvl="4"/>
            <a:r>
              <a:rPr lang="it-IT" dirty="0" err="1"/>
              <a:t>Fifth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181600" cy="3505200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sz="1600" b="0"/>
            </a:lvl1pPr>
            <a:extLst/>
          </a:lstStyle>
          <a:p>
            <a:fld id="{D92324C1-3C17-9D42-8408-83DB113BF2E9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812800" y="1816383"/>
            <a:ext cx="5181600" cy="707136"/>
          </a:xfrm>
          <a:solidFill>
            <a:schemeClr val="accent2"/>
          </a:solidFill>
        </p:spPr>
        <p:txBody>
          <a:bodyPr rtlCol="0" anchor="ctr">
            <a:noAutofit/>
          </a:bodyPr>
          <a:lstStyle>
            <a:lvl1pPr>
              <a:buFontTx/>
              <a:buNone/>
              <a:defRPr sz="3733" b="0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defRPr>
            </a:lvl1pPr>
            <a:extLst/>
          </a:lstStyle>
          <a:p>
            <a:pPr lvl="0"/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text </a:t>
            </a:r>
            <a:r>
              <a:rPr lang="it-IT" dirty="0" err="1"/>
              <a:t>styles</a:t>
            </a:r>
            <a:endParaRPr lang="it-IT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400800" y="1816383"/>
            <a:ext cx="5181600" cy="707136"/>
          </a:xfrm>
          <a:solidFill>
            <a:schemeClr val="accent4"/>
          </a:solidFill>
        </p:spPr>
        <p:txBody>
          <a:bodyPr rtlCol="0" anchor="ctr">
            <a:noAutofit/>
          </a:bodyPr>
          <a:lstStyle>
            <a:lvl1pPr>
              <a:buFontTx/>
              <a:buNone/>
              <a:defRPr sz="3733" b="0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defRPr>
            </a:lvl1pPr>
            <a:extLst/>
          </a:lstStyle>
          <a:p>
            <a:pPr lvl="0"/>
            <a:r>
              <a:rPr lang="it-IT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375826-E2B7-BE4F-AAC3-614B74879F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800" y="6346371"/>
            <a:ext cx="2032000" cy="43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89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10EBA7-7E50-6045-9633-77A90340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95E316-EF4D-C94B-BB52-E8F6A2F1E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579C95-1E4F-7846-8F59-D712E6C02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94CED-3F14-E749-A7AF-9A61AF890629}" type="datetime1">
              <a:rPr lang="it-IT" smtClean="0"/>
              <a:t>20/09/20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FD7258-41FF-2649-87DB-9F241119C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Master universitario: Data protection, cybersecurity e digital forensics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CBBF27-655A-6F44-A5EF-6C9FA836E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411CB-A3BD-764C-925A-4B149FE6D3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701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whitehat" TargetMode="Externa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9B72CE-0335-3D4B-892F-6D42B1D5E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Introduzione alla Sicurezza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A7CF832-7B61-B040-A9D7-AEE394EAD6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Prof. Stefano </a:t>
            </a:r>
            <a:r>
              <a:rPr lang="it-IT" dirty="0" err="1"/>
              <a:t>Bistarelli</a:t>
            </a:r>
            <a:endParaRPr lang="it-IT" dirty="0"/>
          </a:p>
          <a:p>
            <a:r>
              <a:rPr lang="it-IT" dirty="0"/>
              <a:t>Cultori della materia (Francesco Faloci, Ivan Mercanti)</a:t>
            </a:r>
          </a:p>
          <a:p>
            <a:r>
              <a:rPr lang="it-IT" dirty="0"/>
              <a:t>Tutor (??)</a:t>
            </a:r>
          </a:p>
          <a:p>
            <a:r>
              <a:rPr lang="it-IT" dirty="0"/>
              <a:t>.. Forse talk di ospiti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56FE70A-DFF3-0349-AA3A-557FD0FF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</p:spTree>
    <p:extLst>
      <p:ext uri="{BB962C8B-B14F-4D97-AF65-F5344CB8AC3E}">
        <p14:creationId xmlns:p14="http://schemas.microsoft.com/office/powerpoint/2010/main" val="415242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4DD2C7-45F8-4349-A036-06786BA9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Summary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AEDDDD-F7CA-E043-9ACB-D4231EC2F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6 CFU </a:t>
            </a:r>
            <a:r>
              <a:rPr lang="it-IT" dirty="0" err="1"/>
              <a:t>ssd</a:t>
            </a:r>
            <a:r>
              <a:rPr lang="it-IT" dirty="0"/>
              <a:t> INF/01</a:t>
            </a:r>
          </a:p>
          <a:p>
            <a:r>
              <a:rPr lang="it-IT" dirty="0"/>
              <a:t>42 ore di didattica frontale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498E617-3722-834A-A1D6-89891452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Master universitario: Data protection, cybersecurity e digital forensics</a:t>
            </a:r>
          </a:p>
        </p:txBody>
      </p:sp>
    </p:spTree>
    <p:extLst>
      <p:ext uri="{BB962C8B-B14F-4D97-AF65-F5344CB8AC3E}">
        <p14:creationId xmlns:p14="http://schemas.microsoft.com/office/powerpoint/2010/main" val="406060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135" name="10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10</a:t>
            </a:r>
          </a:p>
        </p:txBody>
      </p:sp>
      <p:sp>
        <p:nvSpPr>
          <p:cNvPr id="136" name="Course Outline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Course Outline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31726D0-6432-814B-BFF6-D641D313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" y="1422400"/>
            <a:ext cx="3187700" cy="41148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5E9B1E66-A330-F94F-B976-99B9E8781F30}"/>
              </a:ext>
            </a:extLst>
          </p:cNvPr>
          <p:cNvSpPr/>
          <p:nvPr/>
        </p:nvSpPr>
        <p:spPr>
          <a:xfrm>
            <a:off x="5181600" y="1217642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>
                <a:solidFill>
                  <a:srgbClr val="333333"/>
                </a:solidFill>
                <a:latin typeface="Open Sans"/>
              </a:rPr>
              <a:t>1. </a:t>
            </a:r>
            <a:r>
              <a:rPr lang="it-IT" dirty="0" err="1">
                <a:solidFill>
                  <a:srgbClr val="333333"/>
                </a:solidFill>
                <a:latin typeface="Open Sans"/>
              </a:rPr>
              <a:t>Introduction</a:t>
            </a:r>
            <a:r>
              <a:rPr lang="it-IT" dirty="0">
                <a:solidFill>
                  <a:srgbClr val="333333"/>
                </a:solidFill>
                <a:latin typeface="Open Sans"/>
              </a:rPr>
              <a:t> </a:t>
            </a:r>
          </a:p>
          <a:p>
            <a:r>
              <a:rPr lang="it-IT" dirty="0">
                <a:solidFill>
                  <a:srgbClr val="FF0000"/>
                </a:solidFill>
              </a:rPr>
              <a:t>- RIPASSO RETI</a:t>
            </a:r>
            <a:br>
              <a:rPr lang="it-IT" dirty="0"/>
            </a:br>
            <a:r>
              <a:rPr lang="it-IT" dirty="0">
                <a:solidFill>
                  <a:srgbClr val="333333"/>
                </a:solidFill>
                <a:latin typeface="Open Sans"/>
              </a:rPr>
              <a:t>Part I: </a:t>
            </a:r>
            <a:r>
              <a:rPr lang="it-IT" dirty="0" err="1">
                <a:solidFill>
                  <a:srgbClr val="333333"/>
                </a:solidFill>
                <a:latin typeface="Open Sans"/>
              </a:rPr>
              <a:t>Cryptography</a:t>
            </a:r>
            <a:r>
              <a:rPr lang="it-IT" dirty="0">
                <a:solidFill>
                  <a:srgbClr val="333333"/>
                </a:solidFill>
                <a:latin typeface="Open Sans"/>
              </a:rPr>
              <a:t> </a:t>
            </a:r>
          </a:p>
          <a:p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2. </a:t>
            </a:r>
            <a:r>
              <a:rPr lang="it-IT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Symmetric</a:t>
            </a:r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 </a:t>
            </a:r>
            <a:r>
              <a:rPr lang="it-IT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Encryption</a:t>
            </a:r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 and Message </a:t>
            </a:r>
          </a:p>
          <a:p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3. Public-</a:t>
            </a:r>
            <a:r>
              <a:rPr lang="it-IT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Key</a:t>
            </a:r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 </a:t>
            </a:r>
            <a:r>
              <a:rPr lang="it-IT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Cryptography</a:t>
            </a:r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 and Message </a:t>
            </a:r>
          </a:p>
          <a:p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4. </a:t>
            </a:r>
            <a:r>
              <a:rPr lang="it-IT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Key</a:t>
            </a:r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 Distribution and User </a:t>
            </a:r>
            <a:r>
              <a:rPr lang="it-IT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Authentication</a:t>
            </a:r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 </a:t>
            </a:r>
          </a:p>
          <a:p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5. Network Access Control and </a:t>
            </a:r>
            <a:r>
              <a:rPr lang="it-IT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Cloud</a:t>
            </a:r>
            <a:r>
              <a:rPr lang="it-IT" i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</a:rPr>
              <a:t> Security</a:t>
            </a:r>
            <a:r>
              <a:rPr lang="it-IT" i="1" dirty="0">
                <a:solidFill>
                  <a:srgbClr val="333333"/>
                </a:solidFill>
                <a:latin typeface="Open Sans"/>
              </a:rPr>
              <a:t> </a:t>
            </a:r>
          </a:p>
          <a:p>
            <a:r>
              <a:rPr lang="it-IT" dirty="0">
                <a:solidFill>
                  <a:srgbClr val="333333"/>
                </a:solidFill>
                <a:latin typeface="Open Sans"/>
              </a:rPr>
              <a:t>6. </a:t>
            </a:r>
            <a:r>
              <a:rPr lang="it-IT" dirty="0" err="1">
                <a:solidFill>
                  <a:srgbClr val="333333"/>
                </a:solidFill>
                <a:latin typeface="Open Sans"/>
              </a:rPr>
              <a:t>Transport</a:t>
            </a:r>
            <a:r>
              <a:rPr lang="it-IT" dirty="0">
                <a:solidFill>
                  <a:srgbClr val="333333"/>
                </a:solidFill>
                <a:latin typeface="Open Sans"/>
              </a:rPr>
              <a:t>-Level Security </a:t>
            </a:r>
          </a:p>
          <a:p>
            <a:r>
              <a:rPr lang="it-IT" dirty="0">
                <a:solidFill>
                  <a:srgbClr val="333333"/>
                </a:solidFill>
                <a:latin typeface="Open Sans"/>
              </a:rPr>
              <a:t>7. Wireless Network Security </a:t>
            </a:r>
          </a:p>
          <a:p>
            <a:r>
              <a:rPr lang="it-IT" dirty="0">
                <a:solidFill>
                  <a:srgbClr val="333333"/>
                </a:solidFill>
                <a:latin typeface="Open Sans"/>
              </a:rPr>
              <a:t>8. Electronic Mail Security </a:t>
            </a:r>
          </a:p>
          <a:p>
            <a:r>
              <a:rPr lang="it-IT" dirty="0">
                <a:solidFill>
                  <a:srgbClr val="333333"/>
                </a:solidFill>
                <a:latin typeface="Open Sans"/>
              </a:rPr>
              <a:t>9. IP Security </a:t>
            </a:r>
          </a:p>
          <a:p>
            <a:br>
              <a:rPr lang="it-IT" dirty="0"/>
            </a:br>
            <a:r>
              <a:rPr lang="it-IT" dirty="0">
                <a:solidFill>
                  <a:srgbClr val="333333"/>
                </a:solidFill>
                <a:latin typeface="Open Sans"/>
              </a:rPr>
              <a:t>Part III: System Security</a:t>
            </a:r>
          </a:p>
          <a:p>
            <a:r>
              <a:rPr lang="it-IT" dirty="0">
                <a:solidFill>
                  <a:srgbClr val="333333"/>
                </a:solidFill>
                <a:latin typeface="Open Sans"/>
              </a:rPr>
              <a:t>10. </a:t>
            </a:r>
            <a:r>
              <a:rPr lang="it-IT" dirty="0" err="1">
                <a:solidFill>
                  <a:srgbClr val="333333"/>
                </a:solidFill>
                <a:latin typeface="Open Sans"/>
              </a:rPr>
              <a:t>Malicious</a:t>
            </a:r>
            <a:r>
              <a:rPr lang="it-IT" dirty="0">
                <a:solidFill>
                  <a:srgbClr val="333333"/>
                </a:solidFill>
                <a:latin typeface="Open Sans"/>
              </a:rPr>
              <a:t> Software </a:t>
            </a:r>
          </a:p>
          <a:p>
            <a:r>
              <a:rPr lang="it-IT" dirty="0">
                <a:solidFill>
                  <a:srgbClr val="333333"/>
                </a:solidFill>
                <a:latin typeface="Open Sans"/>
              </a:rPr>
              <a:t>11. </a:t>
            </a:r>
            <a:r>
              <a:rPr lang="it-IT" dirty="0" err="1">
                <a:solidFill>
                  <a:srgbClr val="333333"/>
                </a:solidFill>
                <a:latin typeface="Open Sans"/>
              </a:rPr>
              <a:t>Intruders</a:t>
            </a:r>
            <a:r>
              <a:rPr lang="it-IT" dirty="0">
                <a:solidFill>
                  <a:srgbClr val="333333"/>
                </a:solidFill>
                <a:latin typeface="Open Sans"/>
              </a:rPr>
              <a:t> </a:t>
            </a:r>
          </a:p>
          <a:p>
            <a:r>
              <a:rPr lang="it-IT" dirty="0">
                <a:solidFill>
                  <a:srgbClr val="333333"/>
                </a:solidFill>
                <a:latin typeface="Open Sans"/>
              </a:rPr>
              <a:t>12. Firewalls</a:t>
            </a:r>
            <a:endParaRPr lang="it-IT" b="0" i="0" u="none" strike="noStrike" dirty="0">
              <a:solidFill>
                <a:srgbClr val="333333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4055940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141" name="11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11</a:t>
            </a:r>
          </a:p>
        </p:txBody>
      </p:sp>
      <p:sp>
        <p:nvSpPr>
          <p:cNvPr id="142" name="Sicurezza …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Sicurezza …</a:t>
            </a:r>
          </a:p>
        </p:txBody>
      </p:sp>
      <p:sp>
        <p:nvSpPr>
          <p:cNvPr id="143" name="Ma cosa è la sicurezza?…"/>
          <p:cNvSpPr txBox="1">
            <a:spLocks noGrp="1"/>
          </p:cNvSpPr>
          <p:nvPr>
            <p:ph type="body" idx="4294967295"/>
          </p:nvPr>
        </p:nvSpPr>
        <p:spPr>
          <a:xfrm>
            <a:off x="2706688" y="2017713"/>
            <a:ext cx="7772401" cy="41148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Ma cosa è la sicurezza?</a:t>
            </a:r>
          </a:p>
          <a:p>
            <a:r>
              <a:t>Quando un sistema è sicuro?</a:t>
            </a:r>
          </a:p>
        </p:txBody>
      </p:sp>
      <p:pic>
        <p:nvPicPr>
          <p:cNvPr id="144" name="j0254422" descr="j02544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51313" y="3213101"/>
            <a:ext cx="3949701" cy="28051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2062115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147" name="12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12</a:t>
            </a:r>
          </a:p>
        </p:txBody>
      </p:sp>
      <p:sp>
        <p:nvSpPr>
          <p:cNvPr id="148" name="Sicurezza non è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Sicurezza non è		</a:t>
            </a:r>
          </a:p>
        </p:txBody>
      </p:sp>
      <p:sp>
        <p:nvSpPr>
          <p:cNvPr id="149" name="Crittografia…"/>
          <p:cNvSpPr txBox="1">
            <a:spLocks noGrp="1"/>
          </p:cNvSpPr>
          <p:nvPr>
            <p:ph type="body" sz="half" idx="4294967295"/>
          </p:nvPr>
        </p:nvSpPr>
        <p:spPr>
          <a:xfrm>
            <a:off x="2273300" y="2133600"/>
            <a:ext cx="4686300" cy="42481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600"/>
              </a:spcBef>
              <a:defRPr sz="2800"/>
            </a:pPr>
            <a:r>
              <a:t>Crittografia</a:t>
            </a:r>
          </a:p>
          <a:p>
            <a:pPr>
              <a:spcBef>
                <a:spcPts val="600"/>
              </a:spcBef>
              <a:defRPr sz="2800"/>
            </a:pPr>
            <a:r>
              <a:t>Firewall</a:t>
            </a:r>
          </a:p>
          <a:p>
            <a:pPr>
              <a:spcBef>
                <a:spcPts val="600"/>
              </a:spcBef>
              <a:defRPr sz="2800"/>
            </a:pPr>
            <a:r>
              <a:t>Antivirus</a:t>
            </a:r>
          </a:p>
          <a:p>
            <a:pPr>
              <a:spcBef>
                <a:spcPts val="600"/>
              </a:spcBef>
              <a:defRPr sz="2800"/>
            </a:pPr>
            <a:r>
              <a:t>Password</a:t>
            </a:r>
          </a:p>
          <a:p>
            <a:pPr>
              <a:spcBef>
                <a:spcPts val="600"/>
              </a:spcBef>
              <a:defRPr sz="2800"/>
            </a:pPr>
            <a:r>
              <a:t>Smartcard</a:t>
            </a:r>
          </a:p>
          <a:p>
            <a:pPr>
              <a:spcBef>
                <a:spcPts val="600"/>
              </a:spcBef>
              <a:defRPr sz="2800"/>
            </a:pPr>
            <a:r>
              <a:t>…</a:t>
            </a:r>
          </a:p>
        </p:txBody>
      </p:sp>
      <p:pic>
        <p:nvPicPr>
          <p:cNvPr id="150" name="question_icon" descr="question_ico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77051" y="2730501"/>
            <a:ext cx="3370263" cy="30384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8706836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153" name="13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13</a:t>
            </a:r>
          </a:p>
        </p:txBody>
      </p:sp>
      <p:sp>
        <p:nvSpPr>
          <p:cNvPr id="154" name="Sicurezza non è crittografia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Sicurezza non è crittografia</a:t>
            </a:r>
          </a:p>
        </p:txBody>
      </p:sp>
      <p:sp>
        <p:nvSpPr>
          <p:cNvPr id="155" name="Crittografia scienza esatta come branca della matematica…"/>
          <p:cNvSpPr txBox="1">
            <a:spLocks noGrp="1"/>
          </p:cNvSpPr>
          <p:nvPr>
            <p:ph type="body" idx="4294967295"/>
          </p:nvPr>
        </p:nvSpPr>
        <p:spPr>
          <a:xfrm>
            <a:off x="2706688" y="2017713"/>
            <a:ext cx="7772401" cy="41148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Crittografia scienza esatta come branca della matematica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Impossibile violare RSA in tempo polinomiale</a:t>
            </a:r>
          </a:p>
          <a:p>
            <a:r>
              <a:t>Sicurezza scienza inesatta perché basata su persone e macchine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Acquisto on-line insicuro</a:t>
            </a:r>
          </a:p>
        </p:txBody>
      </p:sp>
    </p:spTree>
    <p:extLst>
      <p:ext uri="{BB962C8B-B14F-4D97-AF65-F5344CB8AC3E}">
        <p14:creationId xmlns:p14="http://schemas.microsoft.com/office/powerpoint/2010/main" val="390786987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158" name="14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14</a:t>
            </a:r>
          </a:p>
        </p:txBody>
      </p:sp>
      <p:sp>
        <p:nvSpPr>
          <p:cNvPr id="159" name="Sicurezza non è password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Sicurezza non è password</a:t>
            </a:r>
          </a:p>
        </p:txBody>
      </p:sp>
      <p:sp>
        <p:nvSpPr>
          <p:cNvPr id="160" name="La password più diffusa è amore…"/>
          <p:cNvSpPr txBox="1">
            <a:spLocks noGrp="1"/>
          </p:cNvSpPr>
          <p:nvPr>
            <p:ph type="body" idx="4294967295"/>
          </p:nvPr>
        </p:nvSpPr>
        <p:spPr>
          <a:xfrm>
            <a:off x="2706688" y="2017713"/>
            <a:ext cx="7772401" cy="41148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La password più diffusa è amore</a:t>
            </a:r>
          </a:p>
          <a:p>
            <a:r>
              <a:t>Attacchi dizionario</a:t>
            </a:r>
          </a:p>
          <a:p>
            <a:r>
              <a:t>Come scegliere una buona password</a:t>
            </a:r>
          </a:p>
          <a:p>
            <a:r>
              <a:t>Come ricordare una buona password</a:t>
            </a:r>
          </a:p>
          <a:p>
            <a:r>
              <a:t>Usare una password per sempre?</a:t>
            </a:r>
          </a:p>
        </p:txBody>
      </p:sp>
    </p:spTree>
    <p:extLst>
      <p:ext uri="{BB962C8B-B14F-4D97-AF65-F5344CB8AC3E}">
        <p14:creationId xmlns:p14="http://schemas.microsoft.com/office/powerpoint/2010/main" val="427995508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163" name="15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15</a:t>
            </a:r>
          </a:p>
        </p:txBody>
      </p:sp>
      <p:sp>
        <p:nvSpPr>
          <p:cNvPr id="164" name="Sicurezza non è firewall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Sicurezza non è firewall</a:t>
            </a:r>
          </a:p>
        </p:txBody>
      </p:sp>
      <p:grpSp>
        <p:nvGrpSpPr>
          <p:cNvPr id="289" name="Gruppo"/>
          <p:cNvGrpSpPr/>
          <p:nvPr/>
        </p:nvGrpSpPr>
        <p:grpSpPr>
          <a:xfrm>
            <a:off x="3105149" y="2197877"/>
            <a:ext cx="5955620" cy="3031349"/>
            <a:chOff x="0" y="0"/>
            <a:chExt cx="5955618" cy="3031348"/>
          </a:xfrm>
        </p:grpSpPr>
        <p:sp>
          <p:nvSpPr>
            <p:cNvPr id="165" name="Ovale"/>
            <p:cNvSpPr/>
            <p:nvPr/>
          </p:nvSpPr>
          <p:spPr>
            <a:xfrm>
              <a:off x="1417637" y="607235"/>
              <a:ext cx="4106863" cy="2232026"/>
            </a:xfrm>
            <a:prstGeom prst="ellipse">
              <a:avLst/>
            </a:prstGeom>
            <a:solidFill>
              <a:srgbClr val="EAEAEA"/>
            </a:solidFill>
            <a:ln w="9525" cap="flat">
              <a:solidFill>
                <a:srgbClr val="FF0000"/>
              </a:solidFill>
              <a:prstDash val="solid"/>
              <a:round/>
            </a:ln>
            <a:effectLst>
              <a:outerShdw blurRad="63500" dist="17960" dir="2700000" rotWithShape="0">
                <a:srgbClr val="990000">
                  <a:alpha val="74996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200">
                <a:defRPr sz="1800"/>
              </a:pPr>
              <a:endParaRPr/>
            </a:p>
          </p:txBody>
        </p:sp>
        <p:pic>
          <p:nvPicPr>
            <p:cNvPr id="166" name="BD15998_" descr="BD15998_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294062" y="2369360"/>
              <a:ext cx="692151" cy="5746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73" name="Gruppo"/>
            <p:cNvGrpSpPr/>
            <p:nvPr/>
          </p:nvGrpSpPr>
          <p:grpSpPr>
            <a:xfrm>
              <a:off x="-1" y="1026335"/>
              <a:ext cx="207964" cy="938214"/>
              <a:chOff x="0" y="0"/>
              <a:chExt cx="207962" cy="938212"/>
            </a:xfrm>
          </p:grpSpPr>
          <p:sp>
            <p:nvSpPr>
              <p:cNvPr id="167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68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69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0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1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2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80" name="Gruppo"/>
            <p:cNvGrpSpPr/>
            <p:nvPr/>
          </p:nvGrpSpPr>
          <p:grpSpPr>
            <a:xfrm>
              <a:off x="152400" y="1178735"/>
              <a:ext cx="207963" cy="938214"/>
              <a:chOff x="0" y="0"/>
              <a:chExt cx="207962" cy="938212"/>
            </a:xfrm>
          </p:grpSpPr>
          <p:sp>
            <p:nvSpPr>
              <p:cNvPr id="174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5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6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7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8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9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87" name="Gruppo"/>
            <p:cNvGrpSpPr/>
            <p:nvPr/>
          </p:nvGrpSpPr>
          <p:grpSpPr>
            <a:xfrm>
              <a:off x="304800" y="1331135"/>
              <a:ext cx="207963" cy="938214"/>
              <a:chOff x="0" y="0"/>
              <a:chExt cx="207962" cy="938212"/>
            </a:xfrm>
          </p:grpSpPr>
          <p:sp>
            <p:nvSpPr>
              <p:cNvPr id="181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2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3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4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5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6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94" name="Gruppo"/>
            <p:cNvGrpSpPr/>
            <p:nvPr/>
          </p:nvGrpSpPr>
          <p:grpSpPr>
            <a:xfrm>
              <a:off x="457200" y="1483535"/>
              <a:ext cx="207963" cy="938214"/>
              <a:chOff x="0" y="0"/>
              <a:chExt cx="207962" cy="938212"/>
            </a:xfrm>
          </p:grpSpPr>
          <p:sp>
            <p:nvSpPr>
              <p:cNvPr id="188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9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0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1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2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3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01" name="Gruppo"/>
            <p:cNvGrpSpPr/>
            <p:nvPr/>
          </p:nvGrpSpPr>
          <p:grpSpPr>
            <a:xfrm>
              <a:off x="609600" y="1635935"/>
              <a:ext cx="207963" cy="938214"/>
              <a:chOff x="0" y="0"/>
              <a:chExt cx="207962" cy="938212"/>
            </a:xfrm>
          </p:grpSpPr>
          <p:sp>
            <p:nvSpPr>
              <p:cNvPr id="195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6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7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8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9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0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08" name="Gruppo"/>
            <p:cNvGrpSpPr/>
            <p:nvPr/>
          </p:nvGrpSpPr>
          <p:grpSpPr>
            <a:xfrm>
              <a:off x="762000" y="1788335"/>
              <a:ext cx="207963" cy="938214"/>
              <a:chOff x="0" y="0"/>
              <a:chExt cx="207962" cy="938212"/>
            </a:xfrm>
          </p:grpSpPr>
          <p:sp>
            <p:nvSpPr>
              <p:cNvPr id="202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3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4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5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6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7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15" name="Gruppo"/>
            <p:cNvGrpSpPr/>
            <p:nvPr/>
          </p:nvGrpSpPr>
          <p:grpSpPr>
            <a:xfrm>
              <a:off x="914400" y="1940735"/>
              <a:ext cx="207963" cy="938214"/>
              <a:chOff x="0" y="0"/>
              <a:chExt cx="207962" cy="938212"/>
            </a:xfrm>
          </p:grpSpPr>
          <p:sp>
            <p:nvSpPr>
              <p:cNvPr id="209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0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1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2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3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4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22" name="Gruppo"/>
            <p:cNvGrpSpPr/>
            <p:nvPr/>
          </p:nvGrpSpPr>
          <p:grpSpPr>
            <a:xfrm>
              <a:off x="1066800" y="2093135"/>
              <a:ext cx="207963" cy="938214"/>
              <a:chOff x="0" y="0"/>
              <a:chExt cx="207962" cy="938212"/>
            </a:xfrm>
          </p:grpSpPr>
          <p:sp>
            <p:nvSpPr>
              <p:cNvPr id="216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7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8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9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0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1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29" name="Gruppo"/>
            <p:cNvGrpSpPr/>
            <p:nvPr/>
          </p:nvGrpSpPr>
          <p:grpSpPr>
            <a:xfrm>
              <a:off x="1866900" y="1146985"/>
              <a:ext cx="207963" cy="938214"/>
              <a:chOff x="0" y="0"/>
              <a:chExt cx="207962" cy="938212"/>
            </a:xfrm>
          </p:grpSpPr>
          <p:sp>
            <p:nvSpPr>
              <p:cNvPr id="223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4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5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6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7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8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36" name="Gruppo"/>
            <p:cNvGrpSpPr/>
            <p:nvPr/>
          </p:nvGrpSpPr>
          <p:grpSpPr>
            <a:xfrm>
              <a:off x="2019300" y="1299385"/>
              <a:ext cx="207963" cy="938214"/>
              <a:chOff x="0" y="0"/>
              <a:chExt cx="207962" cy="938212"/>
            </a:xfrm>
          </p:grpSpPr>
          <p:sp>
            <p:nvSpPr>
              <p:cNvPr id="230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1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2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3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4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5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43" name="Gruppo"/>
            <p:cNvGrpSpPr/>
            <p:nvPr/>
          </p:nvGrpSpPr>
          <p:grpSpPr>
            <a:xfrm>
              <a:off x="2171700" y="1451785"/>
              <a:ext cx="207963" cy="938214"/>
              <a:chOff x="0" y="0"/>
              <a:chExt cx="207962" cy="938212"/>
            </a:xfrm>
          </p:grpSpPr>
          <p:sp>
            <p:nvSpPr>
              <p:cNvPr id="237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8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9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0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1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2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50" name="Gruppo"/>
            <p:cNvGrpSpPr/>
            <p:nvPr/>
          </p:nvGrpSpPr>
          <p:grpSpPr>
            <a:xfrm>
              <a:off x="2324100" y="1604185"/>
              <a:ext cx="207963" cy="938214"/>
              <a:chOff x="0" y="0"/>
              <a:chExt cx="207962" cy="938212"/>
            </a:xfrm>
          </p:grpSpPr>
          <p:sp>
            <p:nvSpPr>
              <p:cNvPr id="244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5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6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7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8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9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57" name="Gruppo"/>
            <p:cNvGrpSpPr/>
            <p:nvPr/>
          </p:nvGrpSpPr>
          <p:grpSpPr>
            <a:xfrm>
              <a:off x="2892425" y="859648"/>
              <a:ext cx="207963" cy="938213"/>
              <a:chOff x="0" y="0"/>
              <a:chExt cx="207962" cy="938212"/>
            </a:xfrm>
          </p:grpSpPr>
          <p:sp>
            <p:nvSpPr>
              <p:cNvPr id="251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2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3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4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5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6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64" name="Gruppo"/>
            <p:cNvGrpSpPr/>
            <p:nvPr/>
          </p:nvGrpSpPr>
          <p:grpSpPr>
            <a:xfrm>
              <a:off x="3044825" y="1012048"/>
              <a:ext cx="207963" cy="938213"/>
              <a:chOff x="0" y="0"/>
              <a:chExt cx="207962" cy="938212"/>
            </a:xfrm>
          </p:grpSpPr>
          <p:sp>
            <p:nvSpPr>
              <p:cNvPr id="258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9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0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1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2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3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71" name="Gruppo"/>
            <p:cNvGrpSpPr/>
            <p:nvPr/>
          </p:nvGrpSpPr>
          <p:grpSpPr>
            <a:xfrm>
              <a:off x="3197225" y="1164448"/>
              <a:ext cx="207963" cy="938213"/>
              <a:chOff x="0" y="0"/>
              <a:chExt cx="207962" cy="938212"/>
            </a:xfrm>
          </p:grpSpPr>
          <p:sp>
            <p:nvSpPr>
              <p:cNvPr id="265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6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7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8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9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0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78" name="Gruppo"/>
            <p:cNvGrpSpPr/>
            <p:nvPr/>
          </p:nvGrpSpPr>
          <p:grpSpPr>
            <a:xfrm>
              <a:off x="3349625" y="1316848"/>
              <a:ext cx="207963" cy="938213"/>
              <a:chOff x="0" y="0"/>
              <a:chExt cx="207962" cy="938212"/>
            </a:xfrm>
          </p:grpSpPr>
          <p:sp>
            <p:nvSpPr>
              <p:cNvPr id="272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3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4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5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6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7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85" name="Gruppo"/>
            <p:cNvGrpSpPr/>
            <p:nvPr/>
          </p:nvGrpSpPr>
          <p:grpSpPr>
            <a:xfrm>
              <a:off x="3502025" y="1469248"/>
              <a:ext cx="207963" cy="938213"/>
              <a:chOff x="0" y="0"/>
              <a:chExt cx="207962" cy="938212"/>
            </a:xfrm>
          </p:grpSpPr>
          <p:sp>
            <p:nvSpPr>
              <p:cNvPr id="279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0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1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2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3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4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286" name="BD15998_" descr="BD15998_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794125" y="1039035"/>
              <a:ext cx="768350" cy="635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7" name="BD15998_" descr="BD15998_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451350" y="2140760"/>
              <a:ext cx="771525" cy="641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8" name="firewall"/>
            <p:cNvSpPr txBox="1"/>
            <p:nvPr/>
          </p:nvSpPr>
          <p:spPr>
            <a:xfrm rot="927942">
              <a:off x="4441825" y="175435"/>
              <a:ext cx="1428750" cy="8318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>
              <a:lvl1pPr algn="ctr" defTabSz="740663">
                <a:defRPr sz="2592">
                  <a:solidFill>
                    <a:srgbClr val="FF000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pPr>
                <a:defRPr sz="1701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r>
                <a:t>firewall</a:t>
              </a:r>
              <a:endParaRPr sz="2916"/>
            </a:p>
          </p:txBody>
        </p:sp>
      </p:grpSp>
    </p:spTree>
    <p:extLst>
      <p:ext uri="{BB962C8B-B14F-4D97-AF65-F5344CB8AC3E}">
        <p14:creationId xmlns:p14="http://schemas.microsoft.com/office/powerpoint/2010/main" val="349471683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292" name="16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16</a:t>
            </a:r>
          </a:p>
        </p:txBody>
      </p:sp>
      <p:sp>
        <p:nvSpPr>
          <p:cNvPr id="293" name="Sicurezza non è firewall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Sicurezza non è firewall</a:t>
            </a:r>
          </a:p>
        </p:txBody>
      </p:sp>
      <p:grpSp>
        <p:nvGrpSpPr>
          <p:cNvPr id="418" name="Gruppo"/>
          <p:cNvGrpSpPr/>
          <p:nvPr/>
        </p:nvGrpSpPr>
        <p:grpSpPr>
          <a:xfrm>
            <a:off x="3105149" y="2197877"/>
            <a:ext cx="5955620" cy="3031349"/>
            <a:chOff x="0" y="0"/>
            <a:chExt cx="5955618" cy="3031348"/>
          </a:xfrm>
        </p:grpSpPr>
        <p:sp>
          <p:nvSpPr>
            <p:cNvPr id="294" name="Ovale"/>
            <p:cNvSpPr/>
            <p:nvPr/>
          </p:nvSpPr>
          <p:spPr>
            <a:xfrm>
              <a:off x="1417637" y="607235"/>
              <a:ext cx="4106863" cy="2232026"/>
            </a:xfrm>
            <a:prstGeom prst="ellipse">
              <a:avLst/>
            </a:prstGeom>
            <a:solidFill>
              <a:srgbClr val="EAEAEA"/>
            </a:solidFill>
            <a:ln w="9525" cap="flat">
              <a:solidFill>
                <a:srgbClr val="FF0000"/>
              </a:solidFill>
              <a:prstDash val="solid"/>
              <a:round/>
            </a:ln>
            <a:effectLst>
              <a:outerShdw blurRad="63500" dist="17960" dir="2700000" rotWithShape="0">
                <a:srgbClr val="990000">
                  <a:alpha val="74996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200">
                <a:defRPr sz="1800"/>
              </a:pPr>
              <a:endParaRPr/>
            </a:p>
          </p:txBody>
        </p:sp>
        <p:pic>
          <p:nvPicPr>
            <p:cNvPr id="295" name="BD15998_" descr="BD15998_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294062" y="2369360"/>
              <a:ext cx="692151" cy="5746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02" name="Gruppo"/>
            <p:cNvGrpSpPr/>
            <p:nvPr/>
          </p:nvGrpSpPr>
          <p:grpSpPr>
            <a:xfrm>
              <a:off x="-1" y="1026335"/>
              <a:ext cx="207964" cy="938214"/>
              <a:chOff x="0" y="0"/>
              <a:chExt cx="207962" cy="938212"/>
            </a:xfrm>
          </p:grpSpPr>
          <p:sp>
            <p:nvSpPr>
              <p:cNvPr id="296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97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98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99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00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01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09" name="Gruppo"/>
            <p:cNvGrpSpPr/>
            <p:nvPr/>
          </p:nvGrpSpPr>
          <p:grpSpPr>
            <a:xfrm>
              <a:off x="152400" y="1178735"/>
              <a:ext cx="207963" cy="938214"/>
              <a:chOff x="0" y="0"/>
              <a:chExt cx="207962" cy="938212"/>
            </a:xfrm>
          </p:grpSpPr>
          <p:sp>
            <p:nvSpPr>
              <p:cNvPr id="303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04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05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06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07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08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16" name="Gruppo"/>
            <p:cNvGrpSpPr/>
            <p:nvPr/>
          </p:nvGrpSpPr>
          <p:grpSpPr>
            <a:xfrm>
              <a:off x="304800" y="1331135"/>
              <a:ext cx="207963" cy="938214"/>
              <a:chOff x="0" y="0"/>
              <a:chExt cx="207962" cy="938212"/>
            </a:xfrm>
          </p:grpSpPr>
          <p:sp>
            <p:nvSpPr>
              <p:cNvPr id="310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1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2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3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4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5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23" name="Gruppo"/>
            <p:cNvGrpSpPr/>
            <p:nvPr/>
          </p:nvGrpSpPr>
          <p:grpSpPr>
            <a:xfrm>
              <a:off x="457200" y="1483535"/>
              <a:ext cx="207963" cy="938214"/>
              <a:chOff x="0" y="0"/>
              <a:chExt cx="207962" cy="938212"/>
            </a:xfrm>
          </p:grpSpPr>
          <p:sp>
            <p:nvSpPr>
              <p:cNvPr id="317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8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9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0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1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2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30" name="Gruppo"/>
            <p:cNvGrpSpPr/>
            <p:nvPr/>
          </p:nvGrpSpPr>
          <p:grpSpPr>
            <a:xfrm>
              <a:off x="609600" y="1635935"/>
              <a:ext cx="207963" cy="938214"/>
              <a:chOff x="0" y="0"/>
              <a:chExt cx="207962" cy="938212"/>
            </a:xfrm>
          </p:grpSpPr>
          <p:sp>
            <p:nvSpPr>
              <p:cNvPr id="324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5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6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7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8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9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37" name="Gruppo"/>
            <p:cNvGrpSpPr/>
            <p:nvPr/>
          </p:nvGrpSpPr>
          <p:grpSpPr>
            <a:xfrm>
              <a:off x="762000" y="1788335"/>
              <a:ext cx="207963" cy="938214"/>
              <a:chOff x="0" y="0"/>
              <a:chExt cx="207962" cy="938212"/>
            </a:xfrm>
          </p:grpSpPr>
          <p:sp>
            <p:nvSpPr>
              <p:cNvPr id="331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2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3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4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5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6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44" name="Gruppo"/>
            <p:cNvGrpSpPr/>
            <p:nvPr/>
          </p:nvGrpSpPr>
          <p:grpSpPr>
            <a:xfrm>
              <a:off x="914400" y="1940735"/>
              <a:ext cx="207963" cy="938214"/>
              <a:chOff x="0" y="0"/>
              <a:chExt cx="207962" cy="938212"/>
            </a:xfrm>
          </p:grpSpPr>
          <p:sp>
            <p:nvSpPr>
              <p:cNvPr id="338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9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0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1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2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3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51" name="Gruppo"/>
            <p:cNvGrpSpPr/>
            <p:nvPr/>
          </p:nvGrpSpPr>
          <p:grpSpPr>
            <a:xfrm>
              <a:off x="1066800" y="2093135"/>
              <a:ext cx="207963" cy="938214"/>
              <a:chOff x="0" y="0"/>
              <a:chExt cx="207962" cy="938212"/>
            </a:xfrm>
          </p:grpSpPr>
          <p:sp>
            <p:nvSpPr>
              <p:cNvPr id="345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6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7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8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9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50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58" name="Gruppo"/>
            <p:cNvGrpSpPr/>
            <p:nvPr/>
          </p:nvGrpSpPr>
          <p:grpSpPr>
            <a:xfrm>
              <a:off x="1866900" y="1146985"/>
              <a:ext cx="207963" cy="938214"/>
              <a:chOff x="0" y="0"/>
              <a:chExt cx="207962" cy="938212"/>
            </a:xfrm>
          </p:grpSpPr>
          <p:sp>
            <p:nvSpPr>
              <p:cNvPr id="352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53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54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55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56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57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65" name="Gruppo"/>
            <p:cNvGrpSpPr/>
            <p:nvPr/>
          </p:nvGrpSpPr>
          <p:grpSpPr>
            <a:xfrm>
              <a:off x="2019300" y="1299385"/>
              <a:ext cx="207963" cy="938214"/>
              <a:chOff x="0" y="0"/>
              <a:chExt cx="207962" cy="938212"/>
            </a:xfrm>
          </p:grpSpPr>
          <p:sp>
            <p:nvSpPr>
              <p:cNvPr id="359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0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1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2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3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4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72" name="Gruppo"/>
            <p:cNvGrpSpPr/>
            <p:nvPr/>
          </p:nvGrpSpPr>
          <p:grpSpPr>
            <a:xfrm>
              <a:off x="2171700" y="1451785"/>
              <a:ext cx="207963" cy="938214"/>
              <a:chOff x="0" y="0"/>
              <a:chExt cx="207962" cy="938212"/>
            </a:xfrm>
          </p:grpSpPr>
          <p:sp>
            <p:nvSpPr>
              <p:cNvPr id="366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7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8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9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0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1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79" name="Gruppo"/>
            <p:cNvGrpSpPr/>
            <p:nvPr/>
          </p:nvGrpSpPr>
          <p:grpSpPr>
            <a:xfrm>
              <a:off x="2324100" y="1604185"/>
              <a:ext cx="207963" cy="938214"/>
              <a:chOff x="0" y="0"/>
              <a:chExt cx="207962" cy="938212"/>
            </a:xfrm>
          </p:grpSpPr>
          <p:sp>
            <p:nvSpPr>
              <p:cNvPr id="373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4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5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6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7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8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86" name="Gruppo"/>
            <p:cNvGrpSpPr/>
            <p:nvPr/>
          </p:nvGrpSpPr>
          <p:grpSpPr>
            <a:xfrm>
              <a:off x="2892425" y="859648"/>
              <a:ext cx="207963" cy="938213"/>
              <a:chOff x="0" y="0"/>
              <a:chExt cx="207962" cy="938212"/>
            </a:xfrm>
          </p:grpSpPr>
          <p:sp>
            <p:nvSpPr>
              <p:cNvPr id="380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81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82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83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84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85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93" name="Gruppo"/>
            <p:cNvGrpSpPr/>
            <p:nvPr/>
          </p:nvGrpSpPr>
          <p:grpSpPr>
            <a:xfrm>
              <a:off x="3044825" y="1012048"/>
              <a:ext cx="207963" cy="938213"/>
              <a:chOff x="0" y="0"/>
              <a:chExt cx="207962" cy="938212"/>
            </a:xfrm>
          </p:grpSpPr>
          <p:sp>
            <p:nvSpPr>
              <p:cNvPr id="387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88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89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0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1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2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400" name="Gruppo"/>
            <p:cNvGrpSpPr/>
            <p:nvPr/>
          </p:nvGrpSpPr>
          <p:grpSpPr>
            <a:xfrm>
              <a:off x="3197225" y="1164448"/>
              <a:ext cx="207963" cy="938213"/>
              <a:chOff x="0" y="0"/>
              <a:chExt cx="207962" cy="938212"/>
            </a:xfrm>
          </p:grpSpPr>
          <p:sp>
            <p:nvSpPr>
              <p:cNvPr id="394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5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6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7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8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9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407" name="Gruppo"/>
            <p:cNvGrpSpPr/>
            <p:nvPr/>
          </p:nvGrpSpPr>
          <p:grpSpPr>
            <a:xfrm>
              <a:off x="3349625" y="1316848"/>
              <a:ext cx="207963" cy="938213"/>
              <a:chOff x="0" y="0"/>
              <a:chExt cx="207962" cy="938212"/>
            </a:xfrm>
          </p:grpSpPr>
          <p:sp>
            <p:nvSpPr>
              <p:cNvPr id="401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02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03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04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05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06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414" name="Gruppo"/>
            <p:cNvGrpSpPr/>
            <p:nvPr/>
          </p:nvGrpSpPr>
          <p:grpSpPr>
            <a:xfrm>
              <a:off x="3502025" y="1469248"/>
              <a:ext cx="207963" cy="938213"/>
              <a:chOff x="0" y="0"/>
              <a:chExt cx="207962" cy="938212"/>
            </a:xfrm>
          </p:grpSpPr>
          <p:sp>
            <p:nvSpPr>
              <p:cNvPr id="408" name="Forma"/>
              <p:cNvSpPr/>
              <p:nvPr/>
            </p:nvSpPr>
            <p:spPr>
              <a:xfrm>
                <a:off x="59880" y="0"/>
                <a:ext cx="135945" cy="201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182"/>
                    </a:moveTo>
                    <a:lnTo>
                      <a:pt x="1543" y="4741"/>
                    </a:lnTo>
                    <a:lnTo>
                      <a:pt x="3600" y="2408"/>
                    </a:lnTo>
                    <a:lnTo>
                      <a:pt x="6171" y="828"/>
                    </a:lnTo>
                    <a:lnTo>
                      <a:pt x="8743" y="0"/>
                    </a:lnTo>
                    <a:lnTo>
                      <a:pt x="12214" y="301"/>
                    </a:lnTo>
                    <a:lnTo>
                      <a:pt x="14400" y="2032"/>
                    </a:lnTo>
                    <a:lnTo>
                      <a:pt x="16457" y="5268"/>
                    </a:lnTo>
                    <a:lnTo>
                      <a:pt x="17357" y="9558"/>
                    </a:lnTo>
                    <a:lnTo>
                      <a:pt x="17357" y="14375"/>
                    </a:lnTo>
                    <a:lnTo>
                      <a:pt x="21471" y="17762"/>
                    </a:lnTo>
                    <a:lnTo>
                      <a:pt x="21600" y="19192"/>
                    </a:lnTo>
                    <a:lnTo>
                      <a:pt x="20957" y="19342"/>
                    </a:lnTo>
                    <a:lnTo>
                      <a:pt x="16971" y="16407"/>
                    </a:lnTo>
                    <a:lnTo>
                      <a:pt x="15814" y="18514"/>
                    </a:lnTo>
                    <a:lnTo>
                      <a:pt x="13371" y="20396"/>
                    </a:lnTo>
                    <a:lnTo>
                      <a:pt x="11186" y="21374"/>
                    </a:lnTo>
                    <a:lnTo>
                      <a:pt x="7586" y="21600"/>
                    </a:lnTo>
                    <a:lnTo>
                      <a:pt x="2957" y="20170"/>
                    </a:lnTo>
                    <a:lnTo>
                      <a:pt x="900" y="16934"/>
                    </a:lnTo>
                    <a:lnTo>
                      <a:pt x="0" y="13698"/>
                    </a:lnTo>
                    <a:lnTo>
                      <a:pt x="0" y="918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09" name="Forma"/>
              <p:cNvSpPr/>
              <p:nvPr/>
            </p:nvSpPr>
            <p:spPr>
              <a:xfrm>
                <a:off x="48551" y="220135"/>
                <a:ext cx="120571" cy="323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44" y="1409"/>
                    </a:moveTo>
                    <a:lnTo>
                      <a:pt x="5654" y="517"/>
                    </a:lnTo>
                    <a:lnTo>
                      <a:pt x="8843" y="188"/>
                    </a:lnTo>
                    <a:lnTo>
                      <a:pt x="11742" y="0"/>
                    </a:lnTo>
                    <a:lnTo>
                      <a:pt x="15511" y="235"/>
                    </a:lnTo>
                    <a:lnTo>
                      <a:pt x="19860" y="1409"/>
                    </a:lnTo>
                    <a:lnTo>
                      <a:pt x="21600" y="3475"/>
                    </a:lnTo>
                    <a:lnTo>
                      <a:pt x="21600" y="6668"/>
                    </a:lnTo>
                    <a:lnTo>
                      <a:pt x="21310" y="9626"/>
                    </a:lnTo>
                    <a:lnTo>
                      <a:pt x="19281" y="14228"/>
                    </a:lnTo>
                    <a:lnTo>
                      <a:pt x="17541" y="17937"/>
                    </a:lnTo>
                    <a:lnTo>
                      <a:pt x="15511" y="20332"/>
                    </a:lnTo>
                    <a:lnTo>
                      <a:pt x="11452" y="21600"/>
                    </a:lnTo>
                    <a:lnTo>
                      <a:pt x="5654" y="21365"/>
                    </a:lnTo>
                    <a:lnTo>
                      <a:pt x="2754" y="19440"/>
                    </a:lnTo>
                    <a:lnTo>
                      <a:pt x="1015" y="16623"/>
                    </a:lnTo>
                    <a:lnTo>
                      <a:pt x="145" y="13477"/>
                    </a:lnTo>
                    <a:lnTo>
                      <a:pt x="0" y="8734"/>
                    </a:lnTo>
                    <a:lnTo>
                      <a:pt x="725" y="5400"/>
                    </a:lnTo>
                    <a:lnTo>
                      <a:pt x="1885" y="2395"/>
                    </a:lnTo>
                    <a:lnTo>
                      <a:pt x="3044" y="140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10" name="Forma"/>
              <p:cNvSpPr/>
              <p:nvPr/>
            </p:nvSpPr>
            <p:spPr>
              <a:xfrm>
                <a:off x="0" y="220135"/>
                <a:ext cx="69591" cy="399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9" y="152"/>
                    </a:moveTo>
                    <a:lnTo>
                      <a:pt x="19842" y="0"/>
                    </a:lnTo>
                    <a:lnTo>
                      <a:pt x="21600" y="951"/>
                    </a:lnTo>
                    <a:lnTo>
                      <a:pt x="19088" y="2168"/>
                    </a:lnTo>
                    <a:lnTo>
                      <a:pt x="15070" y="2852"/>
                    </a:lnTo>
                    <a:lnTo>
                      <a:pt x="11805" y="4449"/>
                    </a:lnTo>
                    <a:lnTo>
                      <a:pt x="7786" y="6617"/>
                    </a:lnTo>
                    <a:lnTo>
                      <a:pt x="6279" y="8632"/>
                    </a:lnTo>
                    <a:lnTo>
                      <a:pt x="5274" y="12093"/>
                    </a:lnTo>
                    <a:lnTo>
                      <a:pt x="6279" y="15325"/>
                    </a:lnTo>
                    <a:lnTo>
                      <a:pt x="8288" y="16808"/>
                    </a:lnTo>
                    <a:lnTo>
                      <a:pt x="6781" y="18444"/>
                    </a:lnTo>
                    <a:lnTo>
                      <a:pt x="5274" y="19661"/>
                    </a:lnTo>
                    <a:lnTo>
                      <a:pt x="5777" y="21600"/>
                    </a:lnTo>
                    <a:lnTo>
                      <a:pt x="3265" y="21448"/>
                    </a:lnTo>
                    <a:lnTo>
                      <a:pt x="1005" y="19851"/>
                    </a:lnTo>
                    <a:lnTo>
                      <a:pt x="0" y="18444"/>
                    </a:lnTo>
                    <a:lnTo>
                      <a:pt x="3014" y="16542"/>
                    </a:lnTo>
                    <a:lnTo>
                      <a:pt x="2009" y="14793"/>
                    </a:lnTo>
                    <a:lnTo>
                      <a:pt x="1005" y="11941"/>
                    </a:lnTo>
                    <a:lnTo>
                      <a:pt x="1005" y="8518"/>
                    </a:lnTo>
                    <a:lnTo>
                      <a:pt x="3014" y="4868"/>
                    </a:lnTo>
                    <a:lnTo>
                      <a:pt x="6279" y="2168"/>
                    </a:lnTo>
                    <a:lnTo>
                      <a:pt x="9795" y="761"/>
                    </a:lnTo>
                    <a:lnTo>
                      <a:pt x="14819" y="1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11" name="Forma"/>
              <p:cNvSpPr/>
              <p:nvPr/>
            </p:nvSpPr>
            <p:spPr>
              <a:xfrm>
                <a:off x="155364" y="227168"/>
                <a:ext cx="42889" cy="382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8" y="79"/>
                    </a:moveTo>
                    <a:lnTo>
                      <a:pt x="8966" y="0"/>
                    </a:lnTo>
                    <a:lnTo>
                      <a:pt x="15079" y="1707"/>
                    </a:lnTo>
                    <a:lnTo>
                      <a:pt x="21600" y="6393"/>
                    </a:lnTo>
                    <a:lnTo>
                      <a:pt x="21600" y="11793"/>
                    </a:lnTo>
                    <a:lnTo>
                      <a:pt x="18340" y="16399"/>
                    </a:lnTo>
                    <a:lnTo>
                      <a:pt x="21600" y="17987"/>
                    </a:lnTo>
                    <a:lnTo>
                      <a:pt x="21600" y="20091"/>
                    </a:lnTo>
                    <a:lnTo>
                      <a:pt x="18340" y="21600"/>
                    </a:lnTo>
                    <a:lnTo>
                      <a:pt x="14264" y="20250"/>
                    </a:lnTo>
                    <a:lnTo>
                      <a:pt x="12226" y="18185"/>
                    </a:lnTo>
                    <a:lnTo>
                      <a:pt x="7336" y="16637"/>
                    </a:lnTo>
                    <a:lnTo>
                      <a:pt x="12634" y="15207"/>
                    </a:lnTo>
                    <a:lnTo>
                      <a:pt x="15894" y="11793"/>
                    </a:lnTo>
                    <a:lnTo>
                      <a:pt x="15894" y="8616"/>
                    </a:lnTo>
                    <a:lnTo>
                      <a:pt x="12634" y="5400"/>
                    </a:lnTo>
                    <a:lnTo>
                      <a:pt x="6521" y="3057"/>
                    </a:lnTo>
                    <a:lnTo>
                      <a:pt x="0" y="1906"/>
                    </a:lnTo>
                    <a:lnTo>
                      <a:pt x="408" y="7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12" name="Forma"/>
              <p:cNvSpPr/>
              <p:nvPr/>
            </p:nvSpPr>
            <p:spPr>
              <a:xfrm>
                <a:off x="47742" y="479655"/>
                <a:ext cx="97913" cy="458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321" y="0"/>
                    </a:moveTo>
                    <a:lnTo>
                      <a:pt x="4820" y="894"/>
                    </a:lnTo>
                    <a:lnTo>
                      <a:pt x="5712" y="1789"/>
                    </a:lnTo>
                    <a:lnTo>
                      <a:pt x="6783" y="4936"/>
                    </a:lnTo>
                    <a:lnTo>
                      <a:pt x="7319" y="7056"/>
                    </a:lnTo>
                    <a:lnTo>
                      <a:pt x="7319" y="10634"/>
                    </a:lnTo>
                    <a:lnTo>
                      <a:pt x="7140" y="14013"/>
                    </a:lnTo>
                    <a:lnTo>
                      <a:pt x="6069" y="16730"/>
                    </a:lnTo>
                    <a:lnTo>
                      <a:pt x="5177" y="17558"/>
                    </a:lnTo>
                    <a:lnTo>
                      <a:pt x="10532" y="17989"/>
                    </a:lnTo>
                    <a:lnTo>
                      <a:pt x="14995" y="18519"/>
                    </a:lnTo>
                    <a:lnTo>
                      <a:pt x="21064" y="19645"/>
                    </a:lnTo>
                    <a:lnTo>
                      <a:pt x="21600" y="20109"/>
                    </a:lnTo>
                    <a:lnTo>
                      <a:pt x="21243" y="20937"/>
                    </a:lnTo>
                    <a:lnTo>
                      <a:pt x="18208" y="21600"/>
                    </a:lnTo>
                    <a:lnTo>
                      <a:pt x="16959" y="21236"/>
                    </a:lnTo>
                    <a:lnTo>
                      <a:pt x="16066" y="20341"/>
                    </a:lnTo>
                    <a:lnTo>
                      <a:pt x="13210" y="19579"/>
                    </a:lnTo>
                    <a:lnTo>
                      <a:pt x="8212" y="18751"/>
                    </a:lnTo>
                    <a:lnTo>
                      <a:pt x="4998" y="18519"/>
                    </a:lnTo>
                    <a:lnTo>
                      <a:pt x="1250" y="18519"/>
                    </a:lnTo>
                    <a:lnTo>
                      <a:pt x="1250" y="17856"/>
                    </a:lnTo>
                    <a:lnTo>
                      <a:pt x="3035" y="17094"/>
                    </a:lnTo>
                    <a:lnTo>
                      <a:pt x="4820" y="14709"/>
                    </a:lnTo>
                    <a:lnTo>
                      <a:pt x="5177" y="12158"/>
                    </a:lnTo>
                    <a:lnTo>
                      <a:pt x="4998" y="9906"/>
                    </a:lnTo>
                    <a:lnTo>
                      <a:pt x="4820" y="7056"/>
                    </a:lnTo>
                    <a:lnTo>
                      <a:pt x="3749" y="4572"/>
                    </a:lnTo>
                    <a:lnTo>
                      <a:pt x="1607" y="2783"/>
                    </a:lnTo>
                    <a:lnTo>
                      <a:pt x="0" y="1126"/>
                    </a:lnTo>
                    <a:lnTo>
                      <a:pt x="536" y="530"/>
                    </a:lnTo>
                    <a:lnTo>
                      <a:pt x="232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13" name="Forma"/>
              <p:cNvSpPr/>
              <p:nvPr/>
            </p:nvSpPr>
            <p:spPr>
              <a:xfrm>
                <a:off x="115714" y="480359"/>
                <a:ext cx="92249" cy="4107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01"/>
                    </a:moveTo>
                    <a:lnTo>
                      <a:pt x="0" y="333"/>
                    </a:lnTo>
                    <a:lnTo>
                      <a:pt x="2084" y="0"/>
                    </a:lnTo>
                    <a:lnTo>
                      <a:pt x="5684" y="0"/>
                    </a:lnTo>
                    <a:lnTo>
                      <a:pt x="8147" y="777"/>
                    </a:lnTo>
                    <a:lnTo>
                      <a:pt x="8716" y="1516"/>
                    </a:lnTo>
                    <a:lnTo>
                      <a:pt x="8147" y="3070"/>
                    </a:lnTo>
                    <a:lnTo>
                      <a:pt x="6442" y="5067"/>
                    </a:lnTo>
                    <a:lnTo>
                      <a:pt x="5684" y="8063"/>
                    </a:lnTo>
                    <a:lnTo>
                      <a:pt x="5116" y="10023"/>
                    </a:lnTo>
                    <a:lnTo>
                      <a:pt x="5116" y="10356"/>
                    </a:lnTo>
                    <a:lnTo>
                      <a:pt x="5874" y="13130"/>
                    </a:lnTo>
                    <a:lnTo>
                      <a:pt x="7200" y="14721"/>
                    </a:lnTo>
                    <a:lnTo>
                      <a:pt x="8147" y="15941"/>
                    </a:lnTo>
                    <a:lnTo>
                      <a:pt x="7958" y="16459"/>
                    </a:lnTo>
                    <a:lnTo>
                      <a:pt x="11179" y="17901"/>
                    </a:lnTo>
                    <a:lnTo>
                      <a:pt x="14589" y="18826"/>
                    </a:lnTo>
                    <a:lnTo>
                      <a:pt x="18379" y="19677"/>
                    </a:lnTo>
                    <a:lnTo>
                      <a:pt x="21600" y="20084"/>
                    </a:lnTo>
                    <a:lnTo>
                      <a:pt x="21600" y="20823"/>
                    </a:lnTo>
                    <a:lnTo>
                      <a:pt x="19705" y="21415"/>
                    </a:lnTo>
                    <a:lnTo>
                      <a:pt x="15537" y="21600"/>
                    </a:lnTo>
                    <a:lnTo>
                      <a:pt x="12505" y="21193"/>
                    </a:lnTo>
                    <a:lnTo>
                      <a:pt x="12505" y="20675"/>
                    </a:lnTo>
                    <a:lnTo>
                      <a:pt x="10042" y="18826"/>
                    </a:lnTo>
                    <a:lnTo>
                      <a:pt x="5874" y="17864"/>
                    </a:lnTo>
                    <a:lnTo>
                      <a:pt x="2842" y="16866"/>
                    </a:lnTo>
                    <a:lnTo>
                      <a:pt x="758" y="16348"/>
                    </a:lnTo>
                    <a:lnTo>
                      <a:pt x="1516" y="15682"/>
                    </a:lnTo>
                    <a:lnTo>
                      <a:pt x="2653" y="13907"/>
                    </a:lnTo>
                    <a:lnTo>
                      <a:pt x="2653" y="10578"/>
                    </a:lnTo>
                    <a:lnTo>
                      <a:pt x="2084" y="8211"/>
                    </a:lnTo>
                    <a:lnTo>
                      <a:pt x="2084" y="5844"/>
                    </a:lnTo>
                    <a:lnTo>
                      <a:pt x="1895" y="3292"/>
                    </a:lnTo>
                    <a:lnTo>
                      <a:pt x="0" y="170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415" name="BD15998_" descr="BD15998_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794125" y="1039035"/>
              <a:ext cx="768350" cy="635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6" name="BD15998_" descr="BD15998_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451350" y="2140760"/>
              <a:ext cx="771525" cy="641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7" name="firewall"/>
            <p:cNvSpPr txBox="1"/>
            <p:nvPr/>
          </p:nvSpPr>
          <p:spPr>
            <a:xfrm rot="927942">
              <a:off x="4441825" y="175435"/>
              <a:ext cx="1428750" cy="8318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>
              <a:lvl1pPr algn="ctr" defTabSz="740663">
                <a:defRPr sz="2592">
                  <a:solidFill>
                    <a:srgbClr val="FF000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pPr>
                <a:defRPr sz="1701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r>
                <a:t>firewall</a:t>
              </a:r>
              <a:endParaRPr sz="2916"/>
            </a:p>
          </p:txBody>
        </p:sp>
      </p:grpSp>
    </p:spTree>
    <p:extLst>
      <p:ext uri="{BB962C8B-B14F-4D97-AF65-F5344CB8AC3E}">
        <p14:creationId xmlns:p14="http://schemas.microsoft.com/office/powerpoint/2010/main" val="46024282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21" name="17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17</a:t>
            </a:r>
          </a:p>
        </p:txBody>
      </p:sp>
      <p:sp>
        <p:nvSpPr>
          <p:cNvPr id="422" name="Sicurezza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Sicurezza</a:t>
            </a:r>
          </a:p>
        </p:txBody>
      </p:sp>
      <p:sp>
        <p:nvSpPr>
          <p:cNvPr id="423" name="Non prodotto ma processo…"/>
          <p:cNvSpPr txBox="1">
            <a:spLocks noGrp="1"/>
          </p:cNvSpPr>
          <p:nvPr>
            <p:ph type="body" idx="4294967295"/>
          </p:nvPr>
        </p:nvSpPr>
        <p:spPr>
          <a:xfrm>
            <a:off x="1981200" y="2060575"/>
            <a:ext cx="8229600" cy="4248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609600" indent="-609600">
              <a:buAutoNum type="arabicPeriod"/>
            </a:pPr>
            <a:r>
              <a:t>Non prodotto ma processo</a:t>
            </a:r>
          </a:p>
          <a:p>
            <a:pPr marL="609600" indent="-609600">
              <a:buAutoNum type="arabicPeriod"/>
            </a:pPr>
            <a:r>
              <a:t>Anello più debole di una catena</a:t>
            </a:r>
          </a:p>
          <a:p>
            <a:pPr marL="609600" indent="-609600">
              <a:buAutoNum type="arabicPeriod"/>
            </a:pPr>
            <a:r>
              <a:t>Proprietà multilivello</a:t>
            </a:r>
          </a:p>
          <a:p>
            <a:pPr marL="990600" lvl="1" indent="-533400">
              <a:spcBef>
                <a:spcPts val="600"/>
              </a:spcBef>
              <a:buClr>
                <a:srgbClr val="FF0000"/>
              </a:buClr>
              <a:defRPr sz="2800"/>
            </a:pPr>
            <a:r>
              <a:t>Livelli di sicurezza</a:t>
            </a:r>
          </a:p>
          <a:p>
            <a:pPr marL="609600" indent="-609600">
              <a:buAutoNum type="arabicPeriod"/>
            </a:pPr>
            <a:r>
              <a:t>Concetto mai assoluto – contesto?</a:t>
            </a:r>
          </a:p>
          <a:p>
            <a:pPr marL="609600" indent="-609600">
              <a:buAutoNum type="arabicPeriod"/>
            </a:pPr>
            <a:r>
              <a:t>Sicurezza da che cosa?</a:t>
            </a:r>
          </a:p>
        </p:txBody>
      </p:sp>
      <p:pic>
        <p:nvPicPr>
          <p:cNvPr id="424" name="j0283453" descr="j02834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81988" y="2432050"/>
            <a:ext cx="1414463" cy="5016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9927313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27" name="18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18</a:t>
            </a:r>
          </a:p>
        </p:txBody>
      </p:sp>
      <p:sp>
        <p:nvSpPr>
          <p:cNvPr id="428" name="Minacce nuove – automazione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Minacce nuove – automazione</a:t>
            </a:r>
          </a:p>
        </p:txBody>
      </p:sp>
      <p:sp>
        <p:nvSpPr>
          <p:cNvPr id="429" name="Microfurti diventano una fortuna…"/>
          <p:cNvSpPr txBox="1">
            <a:spLocks noGrp="1"/>
          </p:cNvSpPr>
          <p:nvPr>
            <p:ph type="body" idx="4294967295"/>
          </p:nvPr>
        </p:nvSpPr>
        <p:spPr>
          <a:xfrm>
            <a:off x="2706688" y="2017713"/>
            <a:ext cx="7772401" cy="4114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Microfurti diventano una fortuna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Limare 1/1000€ da ogni transazione VISA</a:t>
            </a:r>
          </a:p>
          <a:p>
            <a:pPr>
              <a:lnSpc>
                <a:spcPct val="90000"/>
              </a:lnSpc>
            </a:pPr>
            <a:r>
              <a:t>Violazioni quasi senza tracce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Il mio PC ha fatto improvvisamente reboot</a:t>
            </a:r>
          </a:p>
          <a:p>
            <a:pPr>
              <a:lnSpc>
                <a:spcPct val="90000"/>
              </a:lnSpc>
            </a:pPr>
            <a:r>
              <a:t>Privatezza a rischio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Hanno telefonato: sanno che sono iperteso</a:t>
            </a:r>
          </a:p>
        </p:txBody>
      </p:sp>
    </p:spTree>
    <p:extLst>
      <p:ext uri="{BB962C8B-B14F-4D97-AF65-F5344CB8AC3E}">
        <p14:creationId xmlns:p14="http://schemas.microsoft.com/office/powerpoint/2010/main" val="309799363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32" name="19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19</a:t>
            </a:r>
          </a:p>
        </p:txBody>
      </p:sp>
      <p:sp>
        <p:nvSpPr>
          <p:cNvPr id="433" name="Minacce nuove – distanza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Minacce nuove – distanza</a:t>
            </a:r>
          </a:p>
        </p:txBody>
      </p:sp>
      <p:sp>
        <p:nvSpPr>
          <p:cNvPr id="434" name="Non esiste distanza…"/>
          <p:cNvSpPr txBox="1">
            <a:spLocks noGrp="1"/>
          </p:cNvSpPr>
          <p:nvPr>
            <p:ph type="body" idx="4294967295"/>
          </p:nvPr>
        </p:nvSpPr>
        <p:spPr>
          <a:xfrm>
            <a:off x="1992313" y="2060575"/>
            <a:ext cx="8229601" cy="42560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Non esiste distanza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Internet non ha confini naturali</a:t>
            </a:r>
          </a:p>
          <a:p>
            <a:pPr>
              <a:lnSpc>
                <a:spcPct val="90000"/>
              </a:lnSpc>
            </a:pPr>
            <a:r>
              <a:t>Ci preoccupano tutti i criminali del mondo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Adolescente inglese viola sistema italiano</a:t>
            </a:r>
          </a:p>
          <a:p>
            <a:pPr>
              <a:lnSpc>
                <a:spcPct val="90000"/>
              </a:lnSpc>
            </a:pPr>
            <a:r>
              <a:t>Leggi versus confini nazionali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Denunce contro… Internet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Mecca: trovarsi in uno stato americano con scarsa cyberlaw e mancanza di estradizione</a:t>
            </a:r>
          </a:p>
        </p:txBody>
      </p:sp>
    </p:spTree>
    <p:extLst>
      <p:ext uri="{BB962C8B-B14F-4D97-AF65-F5344CB8AC3E}">
        <p14:creationId xmlns:p14="http://schemas.microsoft.com/office/powerpoint/2010/main" val="231687069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39" name="20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20</a:t>
            </a:r>
          </a:p>
        </p:txBody>
      </p:sp>
      <p:sp>
        <p:nvSpPr>
          <p:cNvPr id="440" name="Minacce nuove – tecniche diffuse"/>
          <p:cNvSpPr txBox="1">
            <a:spLocks noGrp="1"/>
          </p:cNvSpPr>
          <p:nvPr>
            <p:ph type="title" idx="4294967295"/>
          </p:nvPr>
        </p:nvSpPr>
        <p:spPr>
          <a:xfrm>
            <a:off x="1981200" y="0"/>
            <a:ext cx="8686800" cy="13716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Minacce nuove – tecniche diffuse</a:t>
            </a:r>
          </a:p>
        </p:txBody>
      </p:sp>
      <p:sp>
        <p:nvSpPr>
          <p:cNvPr id="441" name="Rapidità di propagazione delle tecnologie…"/>
          <p:cNvSpPr txBox="1">
            <a:spLocks noGrp="1"/>
          </p:cNvSpPr>
          <p:nvPr>
            <p:ph type="body" idx="4294967295"/>
          </p:nvPr>
        </p:nvSpPr>
        <p:spPr>
          <a:xfrm>
            <a:off x="1981200" y="2205038"/>
            <a:ext cx="8686800" cy="37449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6042" indent="-336042" defTabSz="896111">
              <a:defRPr sz="3136"/>
            </a:pPr>
            <a:r>
              <a:t>Rapidità di propagazione delle tecnologie</a:t>
            </a:r>
          </a:p>
          <a:p>
            <a:pPr marL="728091" lvl="1" indent="-280035" defTabSz="896111">
              <a:spcBef>
                <a:spcPts val="600"/>
              </a:spcBef>
              <a:buClr>
                <a:srgbClr val="FF0000"/>
              </a:buClr>
              <a:defRPr sz="2744"/>
            </a:pPr>
            <a:r>
              <a:t>Hacker pubblica lo script del proprio attacco</a:t>
            </a:r>
          </a:p>
          <a:p>
            <a:pPr marL="728091" lvl="1" indent="-280035" defTabSz="896111">
              <a:spcBef>
                <a:spcPts val="600"/>
              </a:spcBef>
              <a:buClr>
                <a:srgbClr val="FF0000"/>
              </a:buClr>
              <a:defRPr sz="2744"/>
            </a:pPr>
            <a:r>
              <a:t>Scaricato crack slovacco per texteditor</a:t>
            </a:r>
          </a:p>
          <a:p>
            <a:pPr marL="336042" indent="-336042" defTabSz="896111">
              <a:defRPr sz="3136"/>
            </a:pPr>
            <a:r>
              <a:t>Diventare hacker spesso non richiede abilità</a:t>
            </a:r>
          </a:p>
          <a:p>
            <a:pPr marL="728091" lvl="1" indent="-280035" defTabSz="896111">
              <a:spcBef>
                <a:spcPts val="600"/>
              </a:spcBef>
              <a:buClr>
                <a:srgbClr val="FF0000"/>
              </a:buClr>
              <a:defRPr sz="2744"/>
            </a:pPr>
            <a:r>
              <a:t>Scaricato script per attacco di negazione del servizio (DoS)</a:t>
            </a:r>
          </a:p>
          <a:p>
            <a:pPr marL="728091" lvl="1" indent="-280035" defTabSz="896111">
              <a:spcBef>
                <a:spcPts val="600"/>
              </a:spcBef>
              <a:buClr>
                <a:srgbClr val="FF0000"/>
              </a:buClr>
              <a:defRPr sz="2744"/>
            </a:pPr>
            <a:r>
              <a:t>Trovato su Internet parte del codice rubato di Win2K e verificato che…</a:t>
            </a:r>
          </a:p>
        </p:txBody>
      </p:sp>
    </p:spTree>
    <p:extLst>
      <p:ext uri="{BB962C8B-B14F-4D97-AF65-F5344CB8AC3E}">
        <p14:creationId xmlns:p14="http://schemas.microsoft.com/office/powerpoint/2010/main" val="199409093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44" name="21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21</a:t>
            </a:r>
          </a:p>
        </p:txBody>
      </p:sp>
      <p:sp>
        <p:nvSpPr>
          <p:cNvPr id="445" name="Come proteggersi?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Come proteggersi?</a:t>
            </a:r>
          </a:p>
        </p:txBody>
      </p:sp>
      <p:sp>
        <p:nvSpPr>
          <p:cNvPr id="446" name="Physical security…"/>
          <p:cNvSpPr txBox="1">
            <a:spLocks noGrp="1"/>
          </p:cNvSpPr>
          <p:nvPr>
            <p:ph type="body" idx="4294967295"/>
          </p:nvPr>
        </p:nvSpPr>
        <p:spPr>
          <a:xfrm>
            <a:off x="2706688" y="2017713"/>
            <a:ext cx="7772401" cy="41148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/>
              <a:t>Physical security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Accesso fisico di utenti alle macchine</a:t>
            </a:r>
          </a:p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/>
              <a:t>Operational/Procedural security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Policy di sicurezza</a:t>
            </a:r>
          </a:p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/>
              <a:t>Personnel Security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…</a:t>
            </a:r>
          </a:p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/>
              <a:t>System Security	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Acl, log, …</a:t>
            </a:r>
          </a:p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/>
              <a:t>Network Security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Firewall, IDS, buon routing e filtri</a:t>
            </a:r>
          </a:p>
        </p:txBody>
      </p:sp>
    </p:spTree>
    <p:extLst>
      <p:ext uri="{BB962C8B-B14F-4D97-AF65-F5344CB8AC3E}">
        <p14:creationId xmlns:p14="http://schemas.microsoft.com/office/powerpoint/2010/main" val="173542228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49" name="22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22</a:t>
            </a:r>
          </a:p>
        </p:txBody>
      </p:sp>
      <p:sp>
        <p:nvSpPr>
          <p:cNvPr id="450" name="Come proteggersi?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Come proteggersi?</a:t>
            </a:r>
          </a:p>
        </p:txBody>
      </p:sp>
      <p:sp>
        <p:nvSpPr>
          <p:cNvPr id="451" name="Physical security…"/>
          <p:cNvSpPr txBox="1">
            <a:spLocks noGrp="1"/>
          </p:cNvSpPr>
          <p:nvPr>
            <p:ph type="body" idx="4294967295"/>
          </p:nvPr>
        </p:nvSpPr>
        <p:spPr>
          <a:xfrm>
            <a:off x="2706688" y="2017713"/>
            <a:ext cx="7772401" cy="41148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>
                <a:solidFill>
                  <a:srgbClr val="66FF33"/>
                </a:solidFill>
              </a:rPr>
              <a:t>Physical security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Accesso fisico di utenti alle macchine</a:t>
            </a:r>
          </a:p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>
                <a:solidFill>
                  <a:srgbClr val="FF33CC"/>
                </a:solidFill>
              </a:rPr>
              <a:t>Operational/Procedural security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Policy di sicurezza</a:t>
            </a:r>
          </a:p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>
                <a:solidFill>
                  <a:srgbClr val="333399"/>
                </a:solidFill>
              </a:rPr>
              <a:t>Personnel Security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…</a:t>
            </a:r>
          </a:p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>
                <a:solidFill>
                  <a:schemeClr val="accent2"/>
                </a:solidFill>
              </a:rPr>
              <a:t>System Security	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Acl, log, …</a:t>
            </a:r>
          </a:p>
          <a:p>
            <a:pPr marL="279034" indent="-279034" defTabSz="850391">
              <a:spcBef>
                <a:spcPts val="600"/>
              </a:spcBef>
              <a:defRPr sz="2976"/>
            </a:pPr>
            <a:r>
              <a:rPr sz="2604">
                <a:solidFill>
                  <a:schemeClr val="accent2"/>
                </a:solidFill>
              </a:rPr>
              <a:t>Network Security</a:t>
            </a:r>
          </a:p>
          <a:p>
            <a:pPr marL="652979" lvl="1" indent="-227783" defTabSz="850391">
              <a:buClr>
                <a:srgbClr val="FF0000"/>
              </a:buClr>
              <a:defRPr sz="2604"/>
            </a:pPr>
            <a:r>
              <a:rPr sz="2232"/>
              <a:t>Firewall, IDS, buon routing e filtri</a:t>
            </a:r>
          </a:p>
        </p:txBody>
      </p:sp>
    </p:spTree>
    <p:extLst>
      <p:ext uri="{BB962C8B-B14F-4D97-AF65-F5344CB8AC3E}">
        <p14:creationId xmlns:p14="http://schemas.microsoft.com/office/powerpoint/2010/main" val="232675312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54" name="23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23</a:t>
            </a:r>
          </a:p>
        </p:txBody>
      </p:sp>
      <p:sp>
        <p:nvSpPr>
          <p:cNvPr id="455" name="Piano di Sicurezza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Piano di Sicurezza</a:t>
            </a:r>
          </a:p>
        </p:txBody>
      </p:sp>
      <p:sp>
        <p:nvSpPr>
          <p:cNvPr id="456" name="Risk Avoidance (evitare rischi)…"/>
          <p:cNvSpPr txBox="1">
            <a:spLocks noGrp="1"/>
          </p:cNvSpPr>
          <p:nvPr>
            <p:ph type="body" idx="4294967295"/>
          </p:nvPr>
        </p:nvSpPr>
        <p:spPr>
          <a:xfrm>
            <a:off x="2706688" y="2017713"/>
            <a:ext cx="7772401" cy="41148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57175" indent="-257175">
              <a:spcBef>
                <a:spcPts val="500"/>
              </a:spcBef>
            </a:pPr>
            <a:r>
              <a:rPr sz="2400"/>
              <a:t>Risk Avoidance (evitare rischi)</a:t>
            </a:r>
          </a:p>
          <a:p>
            <a:pPr marL="661307" lvl="1" indent="-204107">
              <a:spcBef>
                <a:spcPts val="400"/>
              </a:spcBef>
              <a:buClr>
                <a:srgbClr val="FF0000"/>
              </a:buClr>
              <a:defRPr sz="2800"/>
            </a:pPr>
            <a:r>
              <a:rPr sz="2000"/>
              <a:t>Necessitiamo di una connessione Internet permanente?</a:t>
            </a:r>
          </a:p>
          <a:p>
            <a:pPr marL="257175" indent="-257175">
              <a:spcBef>
                <a:spcPts val="500"/>
              </a:spcBef>
            </a:pPr>
            <a:r>
              <a:rPr sz="2400"/>
              <a:t>Deterrence (deterrenza)</a:t>
            </a:r>
          </a:p>
          <a:p>
            <a:pPr marL="661307" lvl="1" indent="-204107">
              <a:spcBef>
                <a:spcPts val="400"/>
              </a:spcBef>
              <a:buClr>
                <a:srgbClr val="FF0000"/>
              </a:buClr>
              <a:defRPr sz="2800"/>
            </a:pPr>
            <a:r>
              <a:rPr sz="2000"/>
              <a:t>Pubblicizzare strumenti di difesa e di punizione</a:t>
            </a:r>
          </a:p>
          <a:p>
            <a:pPr marL="257175" indent="-257175">
              <a:spcBef>
                <a:spcPts val="500"/>
              </a:spcBef>
            </a:pPr>
            <a:r>
              <a:rPr sz="2400">
                <a:solidFill>
                  <a:schemeClr val="accent2"/>
                </a:solidFill>
              </a:rPr>
              <a:t>Prevention (prevenzione)</a:t>
            </a:r>
          </a:p>
          <a:p>
            <a:pPr marL="661307" lvl="1" indent="-204107">
              <a:spcBef>
                <a:spcPts val="400"/>
              </a:spcBef>
              <a:buClr>
                <a:srgbClr val="FF0000"/>
              </a:buClr>
              <a:defRPr sz="2800"/>
            </a:pPr>
            <a:r>
              <a:rPr sz="2000"/>
              <a:t>Firewall</a:t>
            </a:r>
          </a:p>
          <a:p>
            <a:pPr marL="257175" indent="-257175">
              <a:spcBef>
                <a:spcPts val="500"/>
              </a:spcBef>
            </a:pPr>
            <a:r>
              <a:rPr sz="2400">
                <a:solidFill>
                  <a:schemeClr val="accent2"/>
                </a:solidFill>
              </a:rPr>
              <a:t>Detection (detection)</a:t>
            </a:r>
            <a:r>
              <a:rPr sz="2400"/>
              <a:t>  </a:t>
            </a:r>
          </a:p>
          <a:p>
            <a:pPr marL="661307" lvl="1" indent="-204107">
              <a:spcBef>
                <a:spcPts val="400"/>
              </a:spcBef>
              <a:buClr>
                <a:srgbClr val="FF0000"/>
              </a:buClr>
              <a:defRPr sz="2800"/>
            </a:pPr>
            <a:r>
              <a:rPr sz="2000"/>
              <a:t>IDS</a:t>
            </a:r>
          </a:p>
          <a:p>
            <a:pPr marL="257175" indent="-257175">
              <a:spcBef>
                <a:spcPts val="500"/>
              </a:spcBef>
            </a:pPr>
            <a:r>
              <a:rPr sz="2400">
                <a:solidFill>
                  <a:schemeClr val="accent2"/>
                </a:solidFill>
              </a:rPr>
              <a:t>Reaction</a:t>
            </a:r>
            <a:r>
              <a:rPr sz="2400"/>
              <a:t> </a:t>
            </a:r>
          </a:p>
          <a:p>
            <a:pPr marL="661307" lvl="1" indent="-204107">
              <a:spcBef>
                <a:spcPts val="400"/>
              </a:spcBef>
              <a:buClr>
                <a:srgbClr val="FF0000"/>
              </a:buClr>
              <a:defRPr sz="2800"/>
            </a:pPr>
            <a:r>
              <a:rPr sz="2000"/>
              <a:t>Recovery</a:t>
            </a:r>
          </a:p>
          <a:p>
            <a:pPr marL="661307" lvl="1" indent="-204107">
              <a:spcBef>
                <a:spcPts val="400"/>
              </a:spcBef>
              <a:buClr>
                <a:srgbClr val="FF0000"/>
              </a:buClr>
              <a:defRPr sz="2800"/>
            </a:pPr>
            <a:r>
              <a:rPr sz="2000"/>
              <a:t>Tribunale</a:t>
            </a:r>
          </a:p>
        </p:txBody>
      </p:sp>
    </p:spTree>
    <p:extLst>
      <p:ext uri="{BB962C8B-B14F-4D97-AF65-F5344CB8AC3E}">
        <p14:creationId xmlns:p14="http://schemas.microsoft.com/office/powerpoint/2010/main" val="50454173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59" name="24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24</a:t>
            </a:r>
          </a:p>
        </p:txBody>
      </p:sp>
      <p:sp>
        <p:nvSpPr>
          <p:cNvPr id="460" name="Soluzioni contro gli attacchi informatici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Soluzioni contro gli attacchi informatici</a:t>
            </a:r>
          </a:p>
        </p:txBody>
      </p:sp>
      <p:sp>
        <p:nvSpPr>
          <p:cNvPr id="461" name="Buona pianificazione della rete con hardware adeguato (router, switch ecc.) insieme alla divisione della rete in aree a livello di sicurezza variabile.…"/>
          <p:cNvSpPr txBox="1">
            <a:spLocks noGrp="1"/>
          </p:cNvSpPr>
          <p:nvPr>
            <p:ph type="body" idx="4294967295"/>
          </p:nvPr>
        </p:nvSpPr>
        <p:spPr>
          <a:xfrm>
            <a:off x="2209800" y="2133600"/>
            <a:ext cx="7893050" cy="40322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57175" indent="-257175">
              <a:spcBef>
                <a:spcPts val="500"/>
              </a:spcBef>
            </a:pPr>
            <a:r>
              <a:rPr sz="2400"/>
              <a:t>Buona pianificazione della rete con hardware adeguato (router, switch ecc.) insieme alla divisione della rete in aree a livello di sicurezza variabile.</a:t>
            </a:r>
          </a:p>
          <a:p>
            <a:pPr marL="257175" indent="-257175">
              <a:spcBef>
                <a:spcPts val="500"/>
              </a:spcBef>
            </a:pPr>
            <a:r>
              <a:rPr sz="2400"/>
              <a:t>Controllo dell’integrità delle applicazioni (bugs free) e verifica della correttezza delle configurazioni.</a:t>
            </a:r>
          </a:p>
          <a:p>
            <a:pPr marL="257175" indent="-257175">
              <a:spcBef>
                <a:spcPts val="500"/>
              </a:spcBef>
            </a:pPr>
            <a:r>
              <a:rPr sz="2400"/>
              <a:t>Utilizzo di software che controllino e limitino il traffico di rete dall’esterno verso l’interno e viceversa (es. firewall, router screening ecc.)</a:t>
            </a:r>
          </a:p>
          <a:p>
            <a:pPr marL="257175" indent="-257175">
              <a:spcBef>
                <a:spcPts val="500"/>
              </a:spcBef>
            </a:pPr>
            <a:r>
              <a:rPr sz="2400"/>
              <a:t>Utilizzo di applicazioni che integrino algoritmi di crittografia in grado di codificare i dati prima della loro trasmissione in rete (es. PGP, SSH, SSL ecc.)</a:t>
            </a:r>
          </a:p>
        </p:txBody>
      </p:sp>
    </p:spTree>
    <p:extLst>
      <p:ext uri="{BB962C8B-B14F-4D97-AF65-F5344CB8AC3E}">
        <p14:creationId xmlns:p14="http://schemas.microsoft.com/office/powerpoint/2010/main" val="319217336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64" name="25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25</a:t>
            </a:r>
          </a:p>
        </p:txBody>
      </p:sp>
      <p:sp>
        <p:nvSpPr>
          <p:cNvPr id="465" name="I conti con la realtà"/>
          <p:cNvSpPr txBox="1">
            <a:spLocks noGrp="1"/>
          </p:cNvSpPr>
          <p:nvPr>
            <p:ph type="title" idx="4294967295"/>
          </p:nvPr>
        </p:nvSpPr>
        <p:spPr>
          <a:xfrm>
            <a:off x="1981200" y="123825"/>
            <a:ext cx="8229600" cy="11001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I conti con la realtà</a:t>
            </a:r>
          </a:p>
        </p:txBody>
      </p:sp>
      <p:pic>
        <p:nvPicPr>
          <p:cNvPr id="466" name="ezz4zdjd[1]" descr="ezz4zdjd[1]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4049712" y="3095625"/>
            <a:ext cx="4327526" cy="329088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9" name="Gruppo"/>
          <p:cNvGrpSpPr/>
          <p:nvPr/>
        </p:nvGrpSpPr>
        <p:grpSpPr>
          <a:xfrm>
            <a:off x="2711448" y="1084262"/>
            <a:ext cx="3395666" cy="2432131"/>
            <a:chOff x="-1" y="-1"/>
            <a:chExt cx="3395664" cy="2432130"/>
          </a:xfrm>
        </p:grpSpPr>
        <p:sp>
          <p:nvSpPr>
            <p:cNvPr id="467" name="Forma"/>
            <p:cNvSpPr/>
            <p:nvPr/>
          </p:nvSpPr>
          <p:spPr>
            <a:xfrm rot="10800000">
              <a:off x="-1" y="-1"/>
              <a:ext cx="3395664" cy="2432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00" y="4724"/>
                  </a:moveTo>
                  <a:lnTo>
                    <a:pt x="3600" y="4724"/>
                  </a:lnTo>
                  <a:cubicBezTo>
                    <a:pt x="1612" y="4724"/>
                    <a:pt x="0" y="5983"/>
                    <a:pt x="0" y="7536"/>
                  </a:cubicBezTo>
                  <a:lnTo>
                    <a:pt x="0" y="7536"/>
                  </a:lnTo>
                  <a:lnTo>
                    <a:pt x="0" y="18787"/>
                  </a:lnTo>
                  <a:cubicBezTo>
                    <a:pt x="0" y="20341"/>
                    <a:pt x="1612" y="21600"/>
                    <a:pt x="3600" y="21600"/>
                  </a:cubicBezTo>
                  <a:lnTo>
                    <a:pt x="18000" y="21600"/>
                  </a:lnTo>
                  <a:cubicBezTo>
                    <a:pt x="19988" y="21600"/>
                    <a:pt x="21600" y="20341"/>
                    <a:pt x="21600" y="18787"/>
                  </a:cubicBezTo>
                  <a:lnTo>
                    <a:pt x="21600" y="7536"/>
                  </a:lnTo>
                  <a:cubicBezTo>
                    <a:pt x="21600" y="5983"/>
                    <a:pt x="19988" y="4724"/>
                    <a:pt x="18000" y="4724"/>
                  </a:cubicBezTo>
                  <a:lnTo>
                    <a:pt x="10936" y="0"/>
                  </a:lnTo>
                  <a:lnTo>
                    <a:pt x="12600" y="472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 defTabSz="457200">
                <a:defRPr sz="1800">
                  <a:solidFill>
                    <a:srgbClr val="1C1C1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68" name="Babbo, prato secco e buche di talpa dappertutto: il mio campo di baseball va ricostruito!!"/>
            <p:cNvSpPr txBox="1"/>
            <p:nvPr/>
          </p:nvSpPr>
          <p:spPr>
            <a:xfrm>
              <a:off x="124350" y="69587"/>
              <a:ext cx="3146962" cy="1200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 defTabSz="457200">
                <a:defRPr sz="1800">
                  <a:solidFill>
                    <a:srgbClr val="1C1C1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r>
                <a:t>Babbo, prato secco e buche di talpa dappertutto: il mio campo di baseball va ricostruito!!</a:t>
              </a:r>
            </a:p>
          </p:txBody>
        </p:sp>
      </p:grpSp>
      <p:grpSp>
        <p:nvGrpSpPr>
          <p:cNvPr id="472" name="Gruppo"/>
          <p:cNvGrpSpPr/>
          <p:nvPr/>
        </p:nvGrpSpPr>
        <p:grpSpPr>
          <a:xfrm>
            <a:off x="6912111" y="1571624"/>
            <a:ext cx="3157402" cy="1806633"/>
            <a:chOff x="-1" y="-1"/>
            <a:chExt cx="3157401" cy="1806631"/>
          </a:xfrm>
        </p:grpSpPr>
        <p:sp>
          <p:nvSpPr>
            <p:cNvPr id="470" name="Forma"/>
            <p:cNvSpPr/>
            <p:nvPr/>
          </p:nvSpPr>
          <p:spPr>
            <a:xfrm rot="10800000">
              <a:off x="-1" y="-1"/>
              <a:ext cx="3157401" cy="18066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88" y="1766"/>
                  </a:moveTo>
                  <a:lnTo>
                    <a:pt x="3388" y="1766"/>
                  </a:lnTo>
                  <a:cubicBezTo>
                    <a:pt x="1517" y="1766"/>
                    <a:pt x="0" y="3246"/>
                    <a:pt x="0" y="5071"/>
                  </a:cubicBezTo>
                  <a:lnTo>
                    <a:pt x="0" y="5071"/>
                  </a:lnTo>
                  <a:lnTo>
                    <a:pt x="0" y="18294"/>
                  </a:lnTo>
                  <a:cubicBezTo>
                    <a:pt x="0" y="20120"/>
                    <a:pt x="1517" y="21600"/>
                    <a:pt x="3388" y="21600"/>
                  </a:cubicBezTo>
                  <a:lnTo>
                    <a:pt x="16942" y="21600"/>
                  </a:lnTo>
                  <a:cubicBezTo>
                    <a:pt x="18813" y="21600"/>
                    <a:pt x="20330" y="20120"/>
                    <a:pt x="20330" y="18294"/>
                  </a:cubicBezTo>
                  <a:lnTo>
                    <a:pt x="20330" y="5071"/>
                  </a:lnTo>
                  <a:cubicBezTo>
                    <a:pt x="20330" y="3246"/>
                    <a:pt x="18813" y="1766"/>
                    <a:pt x="16942" y="1766"/>
                  </a:cubicBezTo>
                  <a:lnTo>
                    <a:pt x="21600" y="0"/>
                  </a:lnTo>
                  <a:lnTo>
                    <a:pt x="11859" y="1766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1C1C1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 defTabSz="457200">
                <a:defRPr sz="1800">
                  <a:solidFill>
                    <a:srgbClr val="1C1C1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71" name="Ricostruito?? Figliolo, tu non sai di cosa stai parlando!!"/>
            <p:cNvSpPr txBox="1"/>
            <p:nvPr/>
          </p:nvSpPr>
          <p:spPr>
            <a:xfrm>
              <a:off x="294428" y="60750"/>
              <a:ext cx="2754144" cy="923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 defTabSz="457200">
                <a:defRPr sz="1800">
                  <a:solidFill>
                    <a:srgbClr val="1C1C1C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r>
                <a:t>Ricostruito?? Figliolo, tu non sai di cosa stai parlando!!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003161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75" name="26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26</a:t>
            </a:r>
          </a:p>
        </p:txBody>
      </p:sp>
      <p:sp>
        <p:nvSpPr>
          <p:cNvPr id="476" name="Stato dell’arte in Sicurezza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Stato dell’arte in Sicurezza</a:t>
            </a:r>
          </a:p>
        </p:txBody>
      </p:sp>
      <p:sp>
        <p:nvSpPr>
          <p:cNvPr id="477" name="La sicurezza…"/>
          <p:cNvSpPr txBox="1">
            <a:spLocks noGrp="1"/>
          </p:cNvSpPr>
          <p:nvPr>
            <p:ph type="body" idx="4294967295"/>
          </p:nvPr>
        </p:nvSpPr>
        <p:spPr>
          <a:xfrm>
            <a:off x="1981200" y="2133601"/>
            <a:ext cx="8229600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57175" indent="-257175">
              <a:spcBef>
                <a:spcPts val="500"/>
              </a:spcBef>
            </a:pPr>
            <a:r>
              <a:rPr sz="2400"/>
              <a:t>La sicurezza</a:t>
            </a:r>
          </a:p>
          <a:p>
            <a:pPr marL="712787" lvl="1" indent="-190500">
              <a:spcBef>
                <a:spcPts val="400"/>
              </a:spcBef>
              <a:buClr>
                <a:srgbClr val="FF0000"/>
              </a:buClr>
              <a:buAutoNum type="arabicPeriod"/>
              <a:defRPr sz="2800"/>
            </a:pPr>
            <a:r>
              <a:rPr sz="2000">
                <a:solidFill>
                  <a:srgbClr val="FF5050"/>
                </a:solidFill>
              </a:rPr>
              <a:t>Richiederebbe spesso il ridisegno, il che non è sempre possibile!</a:t>
            </a:r>
          </a:p>
          <a:p>
            <a:pPr marL="712787" lvl="1" indent="-190500">
              <a:spcBef>
                <a:spcPts val="400"/>
              </a:spcBef>
              <a:buClr>
                <a:srgbClr val="FF0000"/>
              </a:buClr>
              <a:buAutoNum type="arabicPeriod"/>
              <a:defRPr sz="2800"/>
            </a:pPr>
            <a:r>
              <a:rPr sz="2000"/>
              <a:t>E’ una proprietà di vari livelli architetturali </a:t>
            </a:r>
            <a:br>
              <a:rPr sz="2000"/>
            </a:br>
            <a:r>
              <a:rPr sz="2000"/>
              <a:t>[OS, rete, ...]</a:t>
            </a:r>
          </a:p>
          <a:p>
            <a:pPr marL="712787" lvl="1" indent="-190500">
              <a:spcBef>
                <a:spcPts val="400"/>
              </a:spcBef>
              <a:buClr>
                <a:srgbClr val="FF0000"/>
              </a:buClr>
              <a:buAutoNum type="arabicPeriod"/>
              <a:defRPr sz="2800"/>
            </a:pPr>
            <a:r>
              <a:rPr sz="2000"/>
              <a:t>Non è un semplice predicato booleano </a:t>
            </a:r>
            <a:br>
              <a:rPr sz="2000"/>
            </a:br>
            <a:r>
              <a:rPr sz="2000"/>
              <a:t>[!!!!!!!!!!!!!!!!!!!!!!!!!!!!]</a:t>
            </a:r>
          </a:p>
          <a:p>
            <a:pPr marL="712787" lvl="1" indent="-190500">
              <a:spcBef>
                <a:spcPts val="400"/>
              </a:spcBef>
              <a:buClr>
                <a:srgbClr val="FF0000"/>
              </a:buClr>
              <a:buAutoNum type="arabicPeriod"/>
              <a:defRPr sz="2800"/>
            </a:pPr>
            <a:r>
              <a:rPr sz="2000"/>
              <a:t>E’ costosa nel senso di risorse computazionali, gestione, mentalità, utilizzo</a:t>
            </a:r>
          </a:p>
          <a:p>
            <a:pPr marL="712787" lvl="1" indent="-190500">
              <a:spcBef>
                <a:spcPts val="400"/>
              </a:spcBef>
              <a:buClr>
                <a:srgbClr val="FF0000"/>
              </a:buClr>
              <a:buAutoNum type="arabicPeriod"/>
              <a:defRPr sz="2800"/>
            </a:pPr>
            <a:r>
              <a:rPr sz="2000"/>
              <a:t>Rimane un campo aperto anche per i colossi dell’Informatica</a:t>
            </a:r>
          </a:p>
        </p:txBody>
      </p:sp>
    </p:spTree>
    <p:extLst>
      <p:ext uri="{BB962C8B-B14F-4D97-AF65-F5344CB8AC3E}">
        <p14:creationId xmlns:p14="http://schemas.microsoft.com/office/powerpoint/2010/main" val="34627195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rof. Stefano Bistarelli - Sicurezza Informatica"/>
          <p:cNvSpPr txBox="1"/>
          <p:nvPr/>
        </p:nvSpPr>
        <p:spPr>
          <a:xfrm>
            <a:off x="5181600" y="6054508"/>
            <a:ext cx="28956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 defTabSz="457200">
              <a:defRPr sz="1400"/>
            </a:lvl1pPr>
          </a:lstStyle>
          <a:p>
            <a:pPr>
              <a:defRPr sz="1800"/>
            </a:pPr>
            <a:r>
              <a:t>Prof. Stefano Bistarelli - Sicurezza Informatica</a:t>
            </a:r>
          </a:p>
        </p:txBody>
      </p:sp>
      <p:sp>
        <p:nvSpPr>
          <p:cNvPr id="480" name="27"/>
          <p:cNvSpPr txBox="1"/>
          <p:nvPr/>
        </p:nvSpPr>
        <p:spPr>
          <a:xfrm>
            <a:off x="8566150" y="6331506"/>
            <a:ext cx="19050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r" defTabSz="457200">
              <a:defRPr sz="1400"/>
            </a:lvl1pPr>
          </a:lstStyle>
          <a:p>
            <a:pPr>
              <a:defRPr sz="1800"/>
            </a:pPr>
            <a:r>
              <a:t>27</a:t>
            </a:r>
          </a:p>
        </p:txBody>
      </p:sp>
      <p:sp>
        <p:nvSpPr>
          <p:cNvPr id="481" name="Definizione di Sicurezza Informatica"/>
          <p:cNvSpPr txBox="1">
            <a:spLocks noGrp="1"/>
          </p:cNvSpPr>
          <p:nvPr>
            <p:ph type="title" idx="4294967295"/>
          </p:nvPr>
        </p:nvSpPr>
        <p:spPr>
          <a:xfrm>
            <a:off x="2674937" y="214313"/>
            <a:ext cx="7793038" cy="146208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Definizione di Sicurezza Informatica</a:t>
            </a:r>
          </a:p>
        </p:txBody>
      </p:sp>
      <p:sp>
        <p:nvSpPr>
          <p:cNvPr id="482" name="Sicurezza:…"/>
          <p:cNvSpPr txBox="1">
            <a:spLocks noGrp="1"/>
          </p:cNvSpPr>
          <p:nvPr>
            <p:ph type="body" idx="4294967295"/>
          </p:nvPr>
        </p:nvSpPr>
        <p:spPr>
          <a:xfrm>
            <a:off x="2706688" y="2017713"/>
            <a:ext cx="7772401" cy="41148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Sicurezza: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Assenza di rischio o pericolo</a:t>
            </a:r>
          </a:p>
          <a:p>
            <a:r>
              <a:t>Sicurezza Informatica</a:t>
            </a: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defRPr sz="2800"/>
            </a:pPr>
            <a:r>
              <a:t>Prevenzione o protezione contro,</a:t>
            </a:r>
          </a:p>
          <a:p>
            <a:pPr lvl="2">
              <a:defRPr sz="2400"/>
            </a:pPr>
            <a:r>
              <a:rPr>
                <a:solidFill>
                  <a:schemeClr val="accent2"/>
                </a:solidFill>
              </a:rPr>
              <a:t>Accesso, distruzione o alterazione</a:t>
            </a:r>
            <a:r>
              <a:t> di </a:t>
            </a:r>
            <a:r>
              <a:rPr>
                <a:solidFill>
                  <a:schemeClr val="accent2"/>
                </a:solidFill>
              </a:rPr>
              <a:t>risorse/informazioni</a:t>
            </a:r>
            <a:r>
              <a:t> da parte di utenti </a:t>
            </a:r>
            <a:r>
              <a:rPr>
                <a:solidFill>
                  <a:schemeClr val="accent2"/>
                </a:solidFill>
              </a:rPr>
              <a:t>non autorizzati</a:t>
            </a:r>
            <a: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107760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" grpId="0" build="p" bldLvl="5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49A1A0-4D2D-C048-B4EC-30A76BFB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BD652C-B4B6-9D47-846A-91E905507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Introduzione alla </a:t>
            </a:r>
            <a:r>
              <a:rPr lang="it-IT" dirty="0" err="1"/>
              <a:t>Cybersecurity</a:t>
            </a:r>
            <a:r>
              <a:rPr lang="it-IT" dirty="0"/>
              <a:t>. </a:t>
            </a:r>
          </a:p>
          <a:p>
            <a:pPr lvl="0"/>
            <a:r>
              <a:rPr lang="it-IT" dirty="0"/>
              <a:t>Breve introduzione alle reti e sistemi operativi</a:t>
            </a:r>
          </a:p>
          <a:p>
            <a:pPr lvl="0"/>
            <a:r>
              <a:rPr lang="it-IT" dirty="0"/>
              <a:t>firewall</a:t>
            </a:r>
          </a:p>
          <a:p>
            <a:pPr lvl="0"/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Principali tipi di attacchi e loro funzionamento: man-in-in-the-middle,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DoS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, Distributed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DoS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, Social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Engineering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, IP/email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Spoofing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, Cross-site Scripting, SQL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Injection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, etc.</a:t>
            </a:r>
          </a:p>
          <a:p>
            <a:pPr lvl="0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Principali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malware: virus, worm, trojan, spyware, ransomware.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Difese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:, IDS/IPS, antivirus, vulnerability scanners, etc..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95284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64D1CD-9BED-7241-B146-B3AC4BFB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9A8310-0314-F44A-AABB-0D1140EDC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Triade CIA (Confidentiality, Integrity, Availability).</a:t>
            </a:r>
            <a:endParaRPr lang="it-IT" dirty="0"/>
          </a:p>
          <a:p>
            <a:pPr lvl="0"/>
            <a:r>
              <a:rPr lang="it-IT" dirty="0"/>
              <a:t>Elementi di crittografia: simmetrica, asimmetrica, </a:t>
            </a:r>
            <a:r>
              <a:rPr lang="it-IT" dirty="0" err="1"/>
              <a:t>certification</a:t>
            </a:r>
            <a:r>
              <a:rPr lang="it-IT" dirty="0"/>
              <a:t> authority, funzioni di </a:t>
            </a:r>
            <a:r>
              <a:rPr lang="it-IT" dirty="0" err="1"/>
              <a:t>hash</a:t>
            </a:r>
            <a:endParaRPr lang="it-IT" dirty="0"/>
          </a:p>
          <a:p>
            <a:pPr lvl="0"/>
            <a:r>
              <a:rPr lang="it-IT" dirty="0"/>
              <a:t>Autenticazione e autorizzazione, schemi di controllo accessi.</a:t>
            </a:r>
          </a:p>
          <a:p>
            <a:pPr lvl="0"/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Rischio, minacce, vulnerabilità.,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attack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tree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, defense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tree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Alcuni software per il GDPR.</a:t>
            </a:r>
          </a:p>
          <a:p>
            <a:pPr lvl="0"/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Esempi di strumenti fisici per l’attacco a sistemi.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0526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Computer</a:t>
            </a:r>
            <a:r>
              <a:rPr lang="en-GB" noProof="0" dirty="0"/>
              <a:t> Security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1905000"/>
            <a:ext cx="7620000" cy="4368800"/>
          </a:xfrm>
        </p:spPr>
        <p:txBody>
          <a:bodyPr>
            <a:normAutofit/>
          </a:bodyPr>
          <a:lstStyle/>
          <a:p>
            <a:r>
              <a:rPr lang="en-GB" dirty="0"/>
              <a:t>Protecting </a:t>
            </a:r>
            <a:r>
              <a:rPr lang="en-GB" b="1" noProof="0" dirty="0"/>
              <a:t>information</a:t>
            </a:r>
          </a:p>
          <a:p>
            <a:pPr lvl="1"/>
            <a:r>
              <a:rPr lang="en-GB" noProof="0" dirty="0"/>
              <a:t>stored in a computer system</a:t>
            </a:r>
          </a:p>
          <a:p>
            <a:pPr lvl="1"/>
            <a:r>
              <a:rPr lang="en-GB" noProof="0" dirty="0"/>
              <a:t>transmitted on a network</a:t>
            </a:r>
          </a:p>
          <a:p>
            <a:r>
              <a:rPr lang="en-GB" noProof="0" dirty="0"/>
              <a:t>Protecting </a:t>
            </a:r>
            <a:r>
              <a:rPr lang="en-GB" b="1" noProof="0" dirty="0"/>
              <a:t>system</a:t>
            </a:r>
            <a:r>
              <a:rPr lang="en-GB" noProof="0" dirty="0"/>
              <a:t> and </a:t>
            </a:r>
            <a:r>
              <a:rPr lang="en-GB" b="1" noProof="0" dirty="0"/>
              <a:t>resources</a:t>
            </a:r>
          </a:p>
          <a:p>
            <a:pPr lvl="1"/>
            <a:r>
              <a:rPr lang="en-GB" noProof="0" dirty="0"/>
              <a:t>hardware</a:t>
            </a:r>
          </a:p>
          <a:p>
            <a:pPr lvl="1"/>
            <a:r>
              <a:rPr lang="en-GB" dirty="0"/>
              <a:t>software</a:t>
            </a:r>
          </a:p>
          <a:p>
            <a:pPr lvl="1"/>
            <a:r>
              <a:rPr lang="en-GB" noProof="0" dirty="0"/>
              <a:t>firmware</a:t>
            </a:r>
          </a:p>
          <a:p>
            <a:pPr lvl="1"/>
            <a:r>
              <a:rPr lang="en-GB" dirty="0"/>
              <a:t>telecommunications</a:t>
            </a:r>
            <a:endParaRPr lang="en-GB" noProof="0" dirty="0"/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042401" y="1905000"/>
            <a:ext cx="2921657" cy="2542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494501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AA9228-AA44-CA44-8AEC-7E783F3F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2400" dirty="0"/>
              <a:t>Information Assurance vs </a:t>
            </a:r>
            <a:r>
              <a:rPr lang="it-IT" sz="2400" dirty="0" err="1"/>
              <a:t>CyberSecurity</a:t>
            </a:r>
            <a:r>
              <a:rPr lang="it-IT" sz="2400" dirty="0"/>
              <a:t> vs Computer Security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307E5CB-63FB-8D41-A13B-203C459EF2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Information Assurance</a:t>
            </a:r>
          </a:p>
          <a:p>
            <a:pPr lvl="1"/>
            <a:r>
              <a:rPr lang="it-IT" dirty="0"/>
              <a:t>A set of </a:t>
            </a:r>
            <a:r>
              <a:rPr lang="it-IT" dirty="0" err="1"/>
              <a:t>technical</a:t>
            </a:r>
            <a:r>
              <a:rPr lang="it-IT" dirty="0"/>
              <a:t> and </a:t>
            </a:r>
            <a:r>
              <a:rPr lang="it-IT" dirty="0" err="1"/>
              <a:t>managerial</a:t>
            </a:r>
            <a:r>
              <a:rPr lang="it-IT" dirty="0"/>
              <a:t> </a:t>
            </a:r>
            <a:r>
              <a:rPr lang="it-IT" dirty="0" err="1"/>
              <a:t>controls</a:t>
            </a:r>
            <a:r>
              <a:rPr lang="it-IT" dirty="0"/>
              <a:t> </a:t>
            </a:r>
            <a:r>
              <a:rPr lang="it-IT" dirty="0" err="1"/>
              <a:t>designed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the </a:t>
            </a:r>
            <a:r>
              <a:rPr lang="it-IT" dirty="0" err="1"/>
              <a:t>confidentiality</a:t>
            </a:r>
            <a:r>
              <a:rPr lang="it-IT" dirty="0"/>
              <a:t>, </a:t>
            </a:r>
            <a:r>
              <a:rPr lang="it-IT" dirty="0" err="1"/>
              <a:t>possession</a:t>
            </a:r>
            <a:r>
              <a:rPr lang="it-IT" dirty="0"/>
              <a:t> of control, </a:t>
            </a:r>
            <a:r>
              <a:rPr lang="it-IT" dirty="0" err="1"/>
              <a:t>integrity</a:t>
            </a:r>
            <a:r>
              <a:rPr lang="it-IT" dirty="0"/>
              <a:t>, </a:t>
            </a:r>
            <a:r>
              <a:rPr lang="it-IT" dirty="0" err="1"/>
              <a:t>authenticity</a:t>
            </a:r>
            <a:r>
              <a:rPr lang="it-IT" dirty="0"/>
              <a:t>, </a:t>
            </a:r>
            <a:r>
              <a:rPr lang="it-IT" dirty="0" err="1"/>
              <a:t>availability</a:t>
            </a:r>
            <a:r>
              <a:rPr lang="it-IT" dirty="0"/>
              <a:t>, and utility of information and information </a:t>
            </a:r>
            <a:r>
              <a:rPr lang="it-IT" dirty="0" err="1"/>
              <a:t>systems</a:t>
            </a:r>
            <a:r>
              <a:rPr lang="it-IT" dirty="0"/>
              <a:t>. </a:t>
            </a:r>
          </a:p>
          <a:p>
            <a:r>
              <a:rPr lang="it-IT" dirty="0" err="1"/>
              <a:t>Cybersecurity</a:t>
            </a:r>
            <a:r>
              <a:rPr lang="it-IT" dirty="0"/>
              <a:t> </a:t>
            </a:r>
          </a:p>
          <a:p>
            <a:pPr lvl="1"/>
            <a:r>
              <a:rPr lang="it-IT" dirty="0"/>
              <a:t>The </a:t>
            </a:r>
            <a:r>
              <a:rPr lang="it-IT" dirty="0" err="1"/>
              <a:t>ability</a:t>
            </a:r>
            <a:r>
              <a:rPr lang="it-IT" dirty="0"/>
              <a:t> to </a:t>
            </a:r>
            <a:r>
              <a:rPr lang="it-IT" dirty="0" err="1"/>
              <a:t>protect</a:t>
            </a:r>
            <a:r>
              <a:rPr lang="it-IT" dirty="0"/>
              <a:t> or </a:t>
            </a:r>
            <a:r>
              <a:rPr lang="it-IT" dirty="0" err="1"/>
              <a:t>defend</a:t>
            </a:r>
            <a:r>
              <a:rPr lang="it-IT" dirty="0"/>
              <a:t> the use of cyberspace from cyber </a:t>
            </a:r>
            <a:r>
              <a:rPr lang="it-IT" dirty="0" err="1"/>
              <a:t>attacks</a:t>
            </a:r>
            <a:r>
              <a:rPr lang="it-IT" dirty="0"/>
              <a:t>. </a:t>
            </a:r>
          </a:p>
          <a:p>
            <a:r>
              <a:rPr lang="it-IT" dirty="0"/>
              <a:t>Computer Security </a:t>
            </a:r>
          </a:p>
          <a:p>
            <a:pPr lvl="1"/>
            <a:r>
              <a:rPr lang="it-IT" dirty="0" err="1"/>
              <a:t>Measures</a:t>
            </a:r>
            <a:r>
              <a:rPr lang="it-IT" dirty="0"/>
              <a:t> and </a:t>
            </a:r>
            <a:r>
              <a:rPr lang="it-IT" dirty="0" err="1"/>
              <a:t>controls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ensure</a:t>
            </a:r>
            <a:r>
              <a:rPr lang="it-IT" dirty="0"/>
              <a:t> </a:t>
            </a:r>
            <a:r>
              <a:rPr lang="it-IT" dirty="0" err="1"/>
              <a:t>confidentiality</a:t>
            </a:r>
            <a:r>
              <a:rPr lang="it-IT" dirty="0"/>
              <a:t>, </a:t>
            </a:r>
            <a:r>
              <a:rPr lang="it-IT" dirty="0" err="1"/>
              <a:t>integrity</a:t>
            </a:r>
            <a:r>
              <a:rPr lang="it-IT" dirty="0"/>
              <a:t>, and </a:t>
            </a:r>
            <a:r>
              <a:rPr lang="it-IT" dirty="0" err="1"/>
              <a:t>availability</a:t>
            </a:r>
            <a:r>
              <a:rPr lang="it-IT" dirty="0"/>
              <a:t> of information </a:t>
            </a:r>
            <a:r>
              <a:rPr lang="it-IT" dirty="0" err="1"/>
              <a:t>system</a:t>
            </a:r>
            <a:r>
              <a:rPr lang="it-IT" dirty="0"/>
              <a:t> </a:t>
            </a:r>
            <a:r>
              <a:rPr lang="it-IT" dirty="0" err="1"/>
              <a:t>assets</a:t>
            </a:r>
            <a:r>
              <a:rPr lang="it-IT" dirty="0"/>
              <a:t> </a:t>
            </a:r>
            <a:r>
              <a:rPr lang="it-IT" dirty="0" err="1"/>
              <a:t>including</a:t>
            </a:r>
            <a:r>
              <a:rPr lang="it-IT" dirty="0"/>
              <a:t> hardware, software, firmware, and information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processed</a:t>
            </a:r>
            <a:r>
              <a:rPr lang="it-IT" dirty="0"/>
              <a:t>, </a:t>
            </a:r>
            <a:r>
              <a:rPr lang="it-IT" dirty="0" err="1"/>
              <a:t>stored</a:t>
            </a:r>
            <a:r>
              <a:rPr lang="it-IT" dirty="0"/>
              <a:t>, and </a:t>
            </a:r>
            <a:r>
              <a:rPr lang="it-IT" dirty="0" err="1"/>
              <a:t>communicated</a:t>
            </a:r>
            <a:r>
              <a:rPr lang="it-IT" dirty="0"/>
              <a:t>. 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33E42CD5-77E9-7E44-9B02-19DE2FFB55D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7145183" y="1803401"/>
            <a:ext cx="3811368" cy="4358217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2BB08D7-95EC-914B-9265-706A2B78A8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29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Why so much interest?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Information systems are </a:t>
            </a:r>
            <a:r>
              <a:rPr lang="en-GB" b="1" noProof="0" dirty="0"/>
              <a:t>pervasive</a:t>
            </a:r>
            <a:r>
              <a:rPr lang="en-GB" noProof="0" dirty="0"/>
              <a:t> and </a:t>
            </a:r>
            <a:r>
              <a:rPr lang="en-GB" b="1" noProof="0" dirty="0"/>
              <a:t>connected</a:t>
            </a:r>
          </a:p>
          <a:p>
            <a:pPr lvl="1"/>
            <a:r>
              <a:rPr lang="en-GB" noProof="0" dirty="0" err="1"/>
              <a:t>IoT</a:t>
            </a:r>
            <a:endParaRPr lang="en-GB" noProof="0" dirty="0"/>
          </a:p>
          <a:p>
            <a:pPr lvl="1"/>
            <a:r>
              <a:rPr lang="en-GB" noProof="0" dirty="0"/>
              <a:t>Industry 4.0</a:t>
            </a:r>
          </a:p>
          <a:p>
            <a:pPr lvl="1"/>
            <a:r>
              <a:rPr lang="en-GB" noProof="0" dirty="0"/>
              <a:t>Critical infrastructures</a:t>
            </a:r>
          </a:p>
          <a:p>
            <a:pPr lvl="1"/>
            <a:r>
              <a:rPr lang="en-GB" noProof="0" dirty="0"/>
              <a:t>Government services</a:t>
            </a:r>
          </a:p>
          <a:p>
            <a:pPr lvl="1"/>
            <a:r>
              <a:rPr lang="en-GB" noProof="0" dirty="0"/>
              <a:t>Financial services (e.g. Banks)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13003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78DA-FB4D-944A-AAA0-56298E47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Examples of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428EE-887A-AA47-B6F3-A43236030A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Identity Theft</a:t>
            </a:r>
          </a:p>
          <a:p>
            <a:r>
              <a:rPr lang="en-GB" noProof="0" dirty="0"/>
              <a:t>Disruption of databases</a:t>
            </a:r>
          </a:p>
          <a:p>
            <a:r>
              <a:rPr lang="en-GB" noProof="0" dirty="0"/>
              <a:t>Data breaches</a:t>
            </a:r>
          </a:p>
          <a:p>
            <a:r>
              <a:rPr lang="en-GB" dirty="0"/>
              <a:t>Cyber-physical attacks</a:t>
            </a:r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0739F-742C-2E4C-9DC6-57AE934801B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noProof="0" dirty="0"/>
              <a:t>Denial of Service</a:t>
            </a:r>
          </a:p>
          <a:p>
            <a:r>
              <a:rPr lang="en-GB" noProof="0" dirty="0"/>
              <a:t>Equipment theft</a:t>
            </a:r>
          </a:p>
          <a:p>
            <a:r>
              <a:rPr lang="en-GB" dirty="0" err="1"/>
              <a:t>Ransomware</a:t>
            </a:r>
            <a:endParaRPr lang="en-GB" noProof="0" dirty="0"/>
          </a:p>
          <a:p>
            <a:r>
              <a:rPr lang="en-GB" noProof="0" dirty="0"/>
              <a:t>Espionage</a:t>
            </a:r>
          </a:p>
          <a:p>
            <a:r>
              <a:rPr lang="en-GB" noProof="0" dirty="0"/>
              <a:t>Cyberterrorism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1E274-B5AA-1A4F-94FD-6EB449CC59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260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Security Properties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Protecting in terms of:</a:t>
            </a:r>
          </a:p>
          <a:p>
            <a:pPr lvl="1"/>
            <a:r>
              <a:rPr lang="en-GB" noProof="0" dirty="0"/>
              <a:t>Confidentiality</a:t>
            </a:r>
          </a:p>
          <a:p>
            <a:pPr lvl="1"/>
            <a:r>
              <a:rPr lang="en-GB" noProof="0" dirty="0"/>
              <a:t>Integrity</a:t>
            </a:r>
          </a:p>
          <a:p>
            <a:pPr lvl="1"/>
            <a:r>
              <a:rPr lang="en-GB" noProof="0" dirty="0"/>
              <a:t>Availability</a:t>
            </a:r>
          </a:p>
          <a:p>
            <a:pPr lvl="1"/>
            <a:r>
              <a:rPr lang="en-GB" noProof="0" dirty="0"/>
              <a:t>Authenticity</a:t>
            </a:r>
          </a:p>
          <a:p>
            <a:pPr lvl="1"/>
            <a:r>
              <a:rPr lang="en-GB" noProof="0" dirty="0"/>
              <a:t>Accountability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67166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Confidentiality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Information should only be </a:t>
            </a:r>
            <a:r>
              <a:rPr lang="en-GB" b="1" noProof="0" dirty="0"/>
              <a:t>accessed</a:t>
            </a:r>
            <a:r>
              <a:rPr lang="en-GB" noProof="0" dirty="0"/>
              <a:t> (</a:t>
            </a:r>
            <a:r>
              <a:rPr lang="en-GB" b="1" noProof="0" dirty="0"/>
              <a:t>read</a:t>
            </a:r>
            <a:r>
              <a:rPr lang="en-GB" noProof="0" dirty="0"/>
              <a:t>) by authorized entities</a:t>
            </a:r>
          </a:p>
          <a:p>
            <a:endParaRPr lang="en-GB" noProof="0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noProof="0" dirty="0"/>
              <a:t>Sensitive data in a database</a:t>
            </a:r>
          </a:p>
          <a:p>
            <a:r>
              <a:rPr lang="en-GB" noProof="0" dirty="0"/>
              <a:t>Personal privacy</a:t>
            </a:r>
          </a:p>
          <a:p>
            <a:r>
              <a:rPr lang="en-GB" noProof="0" dirty="0"/>
              <a:t>On-line payments (e.g. by credit card)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92324C1-3C17-9D42-8408-83DB113BF2E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Definition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062595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Integrity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Information should only be </a:t>
            </a:r>
            <a:r>
              <a:rPr lang="en-GB" b="1" noProof="0" dirty="0"/>
              <a:t>modified</a:t>
            </a:r>
            <a:r>
              <a:rPr lang="en-GB" noProof="0" dirty="0"/>
              <a:t> (</a:t>
            </a:r>
            <a:r>
              <a:rPr lang="en-GB" b="1" noProof="0" dirty="0"/>
              <a:t>written</a:t>
            </a:r>
            <a:r>
              <a:rPr lang="en-GB" noProof="0" dirty="0"/>
              <a:t>) by authorized entities</a:t>
            </a:r>
          </a:p>
          <a:p>
            <a:endParaRPr lang="en-GB" noProof="0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noProof="0" dirty="0"/>
              <a:t>Bank accounts</a:t>
            </a:r>
          </a:p>
          <a:p>
            <a:r>
              <a:rPr lang="en-GB" noProof="0" dirty="0"/>
              <a:t>System programs and firmware should not be altered</a:t>
            </a:r>
          </a:p>
          <a:p>
            <a:r>
              <a:rPr lang="en-GB" noProof="0" dirty="0"/>
              <a:t>Bank transfers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92324C1-3C17-9D42-8408-83DB113BF2E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Definition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192652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Availability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Information and services should be </a:t>
            </a:r>
            <a:r>
              <a:rPr lang="en-GB" b="1" noProof="0" dirty="0"/>
              <a:t>available</a:t>
            </a:r>
            <a:r>
              <a:rPr lang="en-GB" dirty="0"/>
              <a:t> and </a:t>
            </a:r>
            <a:r>
              <a:rPr lang="en-GB" b="1" noProof="0" dirty="0"/>
              <a:t>usable</a:t>
            </a:r>
          </a:p>
          <a:p>
            <a:endParaRPr lang="en-GB" noProof="0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588000" cy="3505200"/>
          </a:xfrm>
        </p:spPr>
        <p:txBody>
          <a:bodyPr/>
          <a:lstStyle/>
          <a:p>
            <a:r>
              <a:rPr lang="en-GB" noProof="0" dirty="0"/>
              <a:t>Cloud services</a:t>
            </a:r>
          </a:p>
          <a:p>
            <a:r>
              <a:rPr lang="en-GB" noProof="0" dirty="0"/>
              <a:t>E-voting</a:t>
            </a:r>
          </a:p>
          <a:p>
            <a:r>
              <a:rPr lang="en-GB" noProof="0" dirty="0"/>
              <a:t>Electrical grids</a:t>
            </a:r>
            <a:br>
              <a:rPr lang="en-GB" noProof="0" dirty="0"/>
            </a:br>
            <a:r>
              <a:rPr lang="en-GB" noProof="0" dirty="0"/>
              <a:t>(Cyber-physical)</a:t>
            </a:r>
          </a:p>
          <a:p>
            <a:r>
              <a:rPr lang="en-GB" dirty="0"/>
              <a:t>Remote surgery (</a:t>
            </a:r>
            <a:r>
              <a:rPr lang="en-GB" dirty="0" err="1"/>
              <a:t>QoS</a:t>
            </a:r>
            <a:r>
              <a:rPr lang="en-GB" dirty="0"/>
              <a:t>)</a:t>
            </a:r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92324C1-3C17-9D42-8408-83DB113BF2E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Definition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180106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Authenticity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The possibility of correctly </a:t>
            </a:r>
            <a:r>
              <a:rPr lang="en-GB" b="1" noProof="0" dirty="0"/>
              <a:t>identifying</a:t>
            </a:r>
            <a:r>
              <a:rPr lang="en-GB" noProof="0" dirty="0"/>
              <a:t> an entity</a:t>
            </a:r>
          </a:p>
          <a:p>
            <a:endParaRPr lang="en-GB" noProof="0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noProof="0" dirty="0"/>
              <a:t>User login</a:t>
            </a:r>
          </a:p>
          <a:p>
            <a:r>
              <a:rPr lang="en-GB" noProof="0" dirty="0"/>
              <a:t>Verified email messages (origin and destination)</a:t>
            </a:r>
          </a:p>
          <a:p>
            <a:r>
              <a:rPr lang="en-GB" noProof="0" dirty="0"/>
              <a:t>ATM PINs</a:t>
            </a:r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92324C1-3C17-9D42-8408-83DB113BF2E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Definition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776141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Accountability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The possibility of </a:t>
            </a:r>
            <a:r>
              <a:rPr lang="en-GB" b="1" noProof="0" dirty="0"/>
              <a:t>tracing</a:t>
            </a:r>
            <a:r>
              <a:rPr lang="en-GB" noProof="0" dirty="0"/>
              <a:t> an event to a unique entity</a:t>
            </a:r>
          </a:p>
          <a:p>
            <a:endParaRPr lang="en-GB" noProof="0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noProof="0" dirty="0"/>
              <a:t>Digital signature</a:t>
            </a:r>
          </a:p>
          <a:p>
            <a:r>
              <a:rPr lang="en-GB" noProof="0" dirty="0"/>
              <a:t>Activity logs</a:t>
            </a:r>
          </a:p>
          <a:p>
            <a:r>
              <a:rPr lang="en-GB" noProof="0" dirty="0"/>
              <a:t>Forensic analysis</a:t>
            </a:r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92324C1-3C17-9D42-8408-83DB113BF2E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Definition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602197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Classes of attacks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5283200" cy="4368800"/>
          </a:xfrm>
        </p:spPr>
        <p:txBody>
          <a:bodyPr>
            <a:normAutofit/>
          </a:bodyPr>
          <a:lstStyle/>
          <a:p>
            <a:r>
              <a:rPr lang="en-GB" noProof="0" dirty="0"/>
              <a:t>Information (or service) flows from a source to a destination</a:t>
            </a:r>
          </a:p>
          <a:p>
            <a:r>
              <a:rPr lang="en-GB" noProof="0" dirty="0"/>
              <a:t>The attacker might </a:t>
            </a:r>
            <a:r>
              <a:rPr lang="en-GB" b="1" noProof="0" dirty="0"/>
              <a:t>subvert</a:t>
            </a:r>
            <a:r>
              <a:rPr lang="en-GB" noProof="0" dirty="0"/>
              <a:t> this in different ways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1" y="2311400"/>
            <a:ext cx="4635388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5883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Eavesdropping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5892800" cy="4368800"/>
          </a:xfrm>
        </p:spPr>
        <p:txBody>
          <a:bodyPr>
            <a:normAutofit/>
          </a:bodyPr>
          <a:lstStyle/>
          <a:p>
            <a:r>
              <a:rPr lang="en-GB" noProof="0" dirty="0"/>
              <a:t>Attacker gets </a:t>
            </a:r>
            <a:r>
              <a:rPr lang="en-GB" b="1" noProof="0" dirty="0"/>
              <a:t>unauthorized access </a:t>
            </a:r>
            <a:r>
              <a:rPr lang="en-GB" noProof="0" dirty="0"/>
              <a:t>to information</a:t>
            </a:r>
          </a:p>
          <a:p>
            <a:r>
              <a:rPr lang="en-GB" noProof="0" dirty="0"/>
              <a:t>Breaks </a:t>
            </a:r>
            <a:r>
              <a:rPr lang="en-GB" b="1" noProof="0" dirty="0"/>
              <a:t>confidentiality</a:t>
            </a:r>
          </a:p>
          <a:p>
            <a:r>
              <a:rPr lang="en-GB" noProof="0" dirty="0"/>
              <a:t>Examples:</a:t>
            </a:r>
          </a:p>
          <a:p>
            <a:pPr lvl="1"/>
            <a:r>
              <a:rPr lang="en-GB" noProof="0" dirty="0"/>
              <a:t>S is a vulnerable database</a:t>
            </a:r>
          </a:p>
          <a:p>
            <a:pPr lvl="1"/>
            <a:r>
              <a:rPr lang="en-GB" noProof="0" dirty="0"/>
              <a:t>S sends a credit card number to D “in the clear”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1" y="2438972"/>
            <a:ext cx="4635388" cy="256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7996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Modification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6299200" cy="4368800"/>
          </a:xfrm>
        </p:spPr>
        <p:txBody>
          <a:bodyPr>
            <a:normAutofit/>
          </a:bodyPr>
          <a:lstStyle/>
          <a:p>
            <a:r>
              <a:rPr lang="en-GB" noProof="0" dirty="0"/>
              <a:t>Attacker </a:t>
            </a:r>
            <a:r>
              <a:rPr lang="en-GB" b="1" noProof="0" dirty="0"/>
              <a:t>maliciously modifies </a:t>
            </a:r>
            <a:r>
              <a:rPr lang="en-GB" noProof="0" dirty="0"/>
              <a:t>information</a:t>
            </a:r>
          </a:p>
          <a:p>
            <a:r>
              <a:rPr lang="en-GB" noProof="0" dirty="0"/>
              <a:t>Breaks </a:t>
            </a:r>
            <a:r>
              <a:rPr lang="en-GB" b="1" noProof="0" dirty="0"/>
              <a:t>integrity</a:t>
            </a:r>
          </a:p>
          <a:p>
            <a:r>
              <a:rPr lang="en-GB" noProof="0" dirty="0"/>
              <a:t>Example:</a:t>
            </a:r>
          </a:p>
          <a:p>
            <a:pPr lvl="1"/>
            <a:r>
              <a:rPr lang="en-GB" noProof="0" dirty="0"/>
              <a:t>A redirects S’s bank transfer to herself</a:t>
            </a:r>
          </a:p>
          <a:p>
            <a:pPr lvl="1"/>
            <a:r>
              <a:rPr lang="en-GB" dirty="0"/>
              <a:t>NOTE: </a:t>
            </a:r>
            <a:r>
              <a:rPr lang="en-GB" noProof="0" dirty="0"/>
              <a:t>A can be either in the browser or on the network (Man-in-the-middle)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2" y="2438972"/>
            <a:ext cx="4635385" cy="256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6738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Interrupting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6299200" cy="4368800"/>
          </a:xfrm>
        </p:spPr>
        <p:txBody>
          <a:bodyPr>
            <a:normAutofit/>
          </a:bodyPr>
          <a:lstStyle/>
          <a:p>
            <a:r>
              <a:rPr lang="en-GB" noProof="0" dirty="0"/>
              <a:t>Attacker </a:t>
            </a:r>
            <a:r>
              <a:rPr lang="en-GB" b="1" noProof="0" dirty="0"/>
              <a:t>stops</a:t>
            </a:r>
            <a:r>
              <a:rPr lang="en-GB" noProof="0" dirty="0"/>
              <a:t> the flow</a:t>
            </a:r>
          </a:p>
          <a:p>
            <a:r>
              <a:rPr lang="en-GB" noProof="0" dirty="0"/>
              <a:t>Breaks </a:t>
            </a:r>
            <a:r>
              <a:rPr lang="en-GB" b="1" noProof="0" dirty="0"/>
              <a:t>availability</a:t>
            </a:r>
          </a:p>
          <a:p>
            <a:r>
              <a:rPr lang="en-GB" noProof="0" dirty="0"/>
              <a:t>Examples:</a:t>
            </a:r>
          </a:p>
          <a:p>
            <a:pPr lvl="1"/>
            <a:r>
              <a:rPr lang="en-GB" noProof="0" dirty="0" err="1"/>
              <a:t>DoS</a:t>
            </a:r>
            <a:r>
              <a:rPr lang="en-GB" noProof="0" dirty="0"/>
              <a:t> on E-Voting</a:t>
            </a:r>
          </a:p>
          <a:p>
            <a:pPr lvl="1"/>
            <a:r>
              <a:rPr lang="en-GB" noProof="0" dirty="0" err="1"/>
              <a:t>DoS</a:t>
            </a:r>
            <a:r>
              <a:rPr lang="en-GB" noProof="0" dirty="0"/>
              <a:t> on power grid (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2" y="2438973"/>
            <a:ext cx="4635385" cy="256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616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Forging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6299200" cy="4368800"/>
          </a:xfrm>
        </p:spPr>
        <p:txBody>
          <a:bodyPr>
            <a:normAutofit/>
          </a:bodyPr>
          <a:lstStyle/>
          <a:p>
            <a:r>
              <a:rPr lang="en-GB" noProof="0" dirty="0"/>
              <a:t>Attacker </a:t>
            </a:r>
            <a:r>
              <a:rPr lang="en-GB" b="1" noProof="0" dirty="0"/>
              <a:t>forges new information</a:t>
            </a:r>
          </a:p>
          <a:p>
            <a:r>
              <a:rPr lang="en-GB" noProof="0" dirty="0"/>
              <a:t>Breaks </a:t>
            </a:r>
            <a:r>
              <a:rPr lang="en-GB" b="1" noProof="0" dirty="0"/>
              <a:t>authenticity</a:t>
            </a:r>
            <a:r>
              <a:rPr lang="en-GB" dirty="0"/>
              <a:t> (and </a:t>
            </a:r>
            <a:r>
              <a:rPr lang="en-GB" b="1" noProof="0" dirty="0"/>
              <a:t>accountability</a:t>
            </a:r>
            <a:r>
              <a:rPr lang="en-GB" noProof="0" dirty="0"/>
              <a:t>)</a:t>
            </a:r>
            <a:endParaRPr lang="en-GB" b="1" noProof="0" dirty="0"/>
          </a:p>
          <a:p>
            <a:r>
              <a:rPr lang="en-GB" noProof="0" dirty="0"/>
              <a:t>Example:</a:t>
            </a:r>
          </a:p>
          <a:p>
            <a:pPr lvl="1"/>
            <a:r>
              <a:rPr lang="en-GB" noProof="0" dirty="0"/>
              <a:t>Forging a signature through a crypto vulnerability (e.g. MD5 collisions)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2" y="2438973"/>
            <a:ext cx="4635385" cy="256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0503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4F06-BF9F-3D4D-84B4-75CCAAE3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CDB5-E4BC-8D4F-9953-4790304365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283200" cy="3505200"/>
          </a:xfrm>
        </p:spPr>
        <p:txBody>
          <a:bodyPr>
            <a:noAutofit/>
          </a:bodyPr>
          <a:lstStyle/>
          <a:p>
            <a:r>
              <a:rPr lang="en-US" sz="3200" b="1" dirty="0"/>
              <a:t>Weakness</a:t>
            </a:r>
            <a:r>
              <a:rPr lang="en-US" sz="3200" dirty="0"/>
              <a:t> in the system, application, hardware, </a:t>
            </a:r>
            <a:r>
              <a:rPr lang="mr-IN" sz="3200" dirty="0"/>
              <a:t>…</a:t>
            </a:r>
            <a:endParaRPr lang="en-US" sz="3200" dirty="0"/>
          </a:p>
          <a:p>
            <a:r>
              <a:rPr lang="en-US" sz="3200" i="1" dirty="0"/>
              <a:t>Reachable</a:t>
            </a:r>
            <a:r>
              <a:rPr lang="en-US" sz="3200" dirty="0"/>
              <a:t>, part of the </a:t>
            </a:r>
            <a:r>
              <a:rPr lang="en-US" sz="3200" b="1" dirty="0"/>
              <a:t>attack surface</a:t>
            </a:r>
          </a:p>
          <a:p>
            <a:r>
              <a:rPr lang="en-US" sz="3200" b="1" dirty="0"/>
              <a:t>Exploitable </a:t>
            </a:r>
            <a:r>
              <a:rPr lang="en-US" sz="3200" dirty="0"/>
              <a:t>by the attacker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887A-BD1E-F040-ADF3-5A4D2597B4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588000" cy="3505200"/>
          </a:xfrm>
        </p:spPr>
        <p:txBody>
          <a:bodyPr>
            <a:noAutofit/>
          </a:bodyPr>
          <a:lstStyle/>
          <a:p>
            <a:r>
              <a:rPr lang="en-GB" sz="3200" dirty="0"/>
              <a:t>A buffer overflow </a:t>
            </a:r>
            <a:r>
              <a:rPr lang="en-GB" sz="3200" b="1" dirty="0"/>
              <a:t>bug</a:t>
            </a:r>
            <a:r>
              <a:rPr lang="en-GB" sz="3200" dirty="0"/>
              <a:t>, a </a:t>
            </a:r>
            <a:r>
              <a:rPr lang="en-GB" sz="3200" b="1" dirty="0"/>
              <a:t>logical flaw</a:t>
            </a:r>
            <a:r>
              <a:rPr lang="en-GB" sz="3200" dirty="0"/>
              <a:t>, </a:t>
            </a:r>
            <a:r>
              <a:rPr lang="mr-IN" sz="3200" dirty="0"/>
              <a:t>…</a:t>
            </a:r>
            <a:endParaRPr lang="en-GB" sz="3200" b="1" dirty="0"/>
          </a:p>
          <a:p>
            <a:r>
              <a:rPr lang="en-GB" sz="3200" dirty="0"/>
              <a:t>A bug in a </a:t>
            </a:r>
            <a:r>
              <a:rPr lang="en-GB" sz="3200" b="1" dirty="0"/>
              <a:t>web-server </a:t>
            </a:r>
            <a:r>
              <a:rPr lang="en-GB" sz="3200" dirty="0"/>
              <a:t>on the Internet</a:t>
            </a:r>
          </a:p>
          <a:p>
            <a:r>
              <a:rPr lang="en-GB" sz="3200" dirty="0"/>
              <a:t>A buffer over-read </a:t>
            </a:r>
            <a:r>
              <a:rPr lang="en-GB" sz="3200" b="1" dirty="0"/>
              <a:t>leaking confidential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0322D-6A1C-7645-83A1-C41C827971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92324C1-3C17-9D42-8408-83DB113BF2E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9216AC-7100-524F-97E3-455EC4DDA3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Definition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646F2F-1195-C14D-BE59-2803B576A3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158800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Introduction </a:t>
            </a:r>
          </a:p>
          <a:p>
            <a:r>
              <a:rPr lang="en-GB" noProof="0" dirty="0"/>
              <a:t>Computer Security </a:t>
            </a:r>
          </a:p>
          <a:p>
            <a:r>
              <a:rPr lang="en-GB" noProof="0" dirty="0"/>
              <a:t>Legal and Ethical Aspects </a:t>
            </a:r>
          </a:p>
          <a:p>
            <a:r>
              <a:rPr lang="en-GB" noProof="0" dirty="0"/>
              <a:t>Introduction to cryptography </a:t>
            </a:r>
          </a:p>
          <a:p>
            <a:endParaRPr lang="en-GB" noProof="0" dirty="0"/>
          </a:p>
        </p:txBody>
      </p:sp>
      <p:sp>
        <p:nvSpPr>
          <p:cNvPr id="5" name="Rectangle 4"/>
          <p:cNvSpPr/>
          <p:nvPr/>
        </p:nvSpPr>
        <p:spPr>
          <a:xfrm>
            <a:off x="406400" y="1905000"/>
            <a:ext cx="9144000" cy="12192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06400" y="3937000"/>
            <a:ext cx="9144000" cy="193357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0156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78DA-FB4D-944A-AAA0-56298E47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Cybercrime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428EE-887A-AA47-B6F3-A43236030A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800" y="1803402"/>
            <a:ext cx="6197600" cy="4358165"/>
          </a:xfrm>
        </p:spPr>
        <p:txBody>
          <a:bodyPr>
            <a:normAutofit/>
          </a:bodyPr>
          <a:lstStyle/>
          <a:p>
            <a:r>
              <a:rPr lang="en-GB" noProof="0" dirty="0"/>
              <a:t>Attacking a vulnerable system is considered a </a:t>
            </a:r>
            <a:r>
              <a:rPr lang="en-GB" b="1" noProof="0" dirty="0"/>
              <a:t>criminal act</a:t>
            </a:r>
          </a:p>
          <a:p>
            <a:pPr lvl="1"/>
            <a:r>
              <a:rPr lang="en-GB" noProof="0" dirty="0"/>
              <a:t>Would you enter a house just because the door is open?</a:t>
            </a:r>
          </a:p>
          <a:p>
            <a:r>
              <a:rPr lang="en-GB" b="1" noProof="0" dirty="0"/>
              <a:t>Example</a:t>
            </a:r>
            <a:r>
              <a:rPr lang="en-GB" noProof="0" dirty="0"/>
              <a:t>: </a:t>
            </a:r>
            <a:r>
              <a:rPr lang="en-GB" noProof="0" dirty="0" err="1"/>
              <a:t>Samy</a:t>
            </a:r>
            <a:r>
              <a:rPr lang="en-GB" noProof="0" dirty="0"/>
              <a:t> innocuous “my hero” worm took down Myspace with legal implications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1E274-B5AA-1A4F-94FD-6EB449CC59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0" y="2413000"/>
            <a:ext cx="4385733" cy="239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48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78DA-FB4D-944A-AAA0-56298E47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Cybercrime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428EE-887A-AA47-B6F3-A43236030A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800" y="3124200"/>
            <a:ext cx="5181600" cy="2946400"/>
          </a:xfrm>
        </p:spPr>
        <p:txBody>
          <a:bodyPr>
            <a:normAutofit/>
          </a:bodyPr>
          <a:lstStyle/>
          <a:p>
            <a:r>
              <a:rPr lang="en-GB" noProof="0" dirty="0"/>
              <a:t>Unauthorized access</a:t>
            </a:r>
          </a:p>
          <a:p>
            <a:r>
              <a:rPr lang="en-GB" noProof="0" dirty="0"/>
              <a:t>Unauthorized interception</a:t>
            </a:r>
          </a:p>
          <a:p>
            <a:r>
              <a:rPr lang="en-GB" noProof="0" dirty="0"/>
              <a:t>Data/system alteration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0739F-742C-2E4C-9DC6-57AE934801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2400" y="3124200"/>
            <a:ext cx="5588000" cy="3149600"/>
          </a:xfrm>
        </p:spPr>
        <p:txBody>
          <a:bodyPr>
            <a:normAutofit/>
          </a:bodyPr>
          <a:lstStyle/>
          <a:p>
            <a:r>
              <a:rPr lang="en-GB" noProof="0" dirty="0"/>
              <a:t>Forgery</a:t>
            </a:r>
          </a:p>
          <a:p>
            <a:r>
              <a:rPr lang="en-GB" noProof="0" dirty="0"/>
              <a:t>Fraud</a:t>
            </a:r>
          </a:p>
          <a:p>
            <a:r>
              <a:rPr lang="en-GB" noProof="0" dirty="0"/>
              <a:t>Child pornography</a:t>
            </a:r>
          </a:p>
          <a:p>
            <a:r>
              <a:rPr lang="en-GB" dirty="0"/>
              <a:t>Copyright infringement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1E274-B5AA-1A4F-94FD-6EB449CC59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9428EE-887A-AA47-B6F3-A43236030A55}"/>
              </a:ext>
            </a:extLst>
          </p:cNvPr>
          <p:cNvSpPr txBox="1">
            <a:spLocks/>
          </p:cNvSpPr>
          <p:nvPr/>
        </p:nvSpPr>
        <p:spPr>
          <a:xfrm>
            <a:off x="508000" y="1803400"/>
            <a:ext cx="11379200" cy="12192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Ø"/>
              <a:defRPr sz="28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Ø"/>
              <a:defRPr sz="24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charset="2"/>
              <a:buChar char="Ø"/>
              <a:defRPr sz="20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charset="2"/>
              <a:buChar char="Ø"/>
              <a:defRPr sz="20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charset="2"/>
              <a:buChar char="Ø"/>
              <a:defRPr sz="20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>
              <a:buNone/>
            </a:pPr>
            <a:r>
              <a:rPr lang="en-US" sz="3733" dirty="0"/>
              <a:t>The 2001 Convention on Cybercrime is the first </a:t>
            </a:r>
            <a:r>
              <a:rPr lang="en-US" sz="3733" b="1" dirty="0"/>
              <a:t>international treaty </a:t>
            </a:r>
            <a:r>
              <a:rPr lang="en-US" sz="3733" dirty="0"/>
              <a:t>addressing cybercrime. It cites:</a:t>
            </a:r>
            <a:endParaRPr lang="en-GB" sz="3733" dirty="0"/>
          </a:p>
          <a:p>
            <a:endParaRPr lang="en-GB" sz="3733" dirty="0"/>
          </a:p>
          <a:p>
            <a:endParaRPr lang="en-GB" sz="3733" dirty="0"/>
          </a:p>
        </p:txBody>
      </p:sp>
    </p:spTree>
    <p:extLst>
      <p:ext uri="{BB962C8B-B14F-4D97-AF65-F5344CB8AC3E}">
        <p14:creationId xmlns:p14="http://schemas.microsoft.com/office/powerpoint/2010/main" val="10501571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4F06-BF9F-3D4D-84B4-75CCAAE3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Ethical 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CDB5-E4BC-8D4F-9953-4790304365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283200" cy="3505200"/>
          </a:xfrm>
        </p:spPr>
        <p:txBody>
          <a:bodyPr>
            <a:noAutofit/>
          </a:bodyPr>
          <a:lstStyle/>
          <a:p>
            <a:r>
              <a:rPr lang="en-GB" sz="3467" dirty="0"/>
              <a:t>Penetrates a system </a:t>
            </a:r>
            <a:r>
              <a:rPr lang="en-GB" sz="3467" b="1" dirty="0"/>
              <a:t>without permission</a:t>
            </a:r>
          </a:p>
          <a:p>
            <a:r>
              <a:rPr lang="en-GB" sz="3467" b="1" dirty="0"/>
              <a:t>takes advantage </a:t>
            </a:r>
            <a:r>
              <a:rPr lang="en-GB" sz="3467" dirty="0"/>
              <a:t>of vulnerabilities</a:t>
            </a:r>
          </a:p>
          <a:p>
            <a:r>
              <a:rPr lang="en-GB" sz="3467" dirty="0"/>
              <a:t>tries to remain </a:t>
            </a:r>
            <a:r>
              <a:rPr lang="en-GB" sz="3467" b="1" dirty="0"/>
              <a:t>unnoticed</a:t>
            </a:r>
            <a:r>
              <a:rPr lang="en-GB" sz="3467" dirty="0"/>
              <a:t> by owner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887A-BD1E-F040-ADF3-5A4D2597B4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384800" cy="3505200"/>
          </a:xfrm>
        </p:spPr>
        <p:txBody>
          <a:bodyPr>
            <a:noAutofit/>
          </a:bodyPr>
          <a:lstStyle/>
          <a:p>
            <a:r>
              <a:rPr lang="en-GB" sz="3467" dirty="0"/>
              <a:t>penetrates a system </a:t>
            </a:r>
            <a:r>
              <a:rPr lang="en-GB" sz="3467" b="1" dirty="0"/>
              <a:t>on behalf of its owner</a:t>
            </a:r>
          </a:p>
          <a:p>
            <a:r>
              <a:rPr lang="en-GB" sz="3467" b="1" dirty="0"/>
              <a:t>reports</a:t>
            </a:r>
            <a:r>
              <a:rPr lang="en-GB" sz="3467" dirty="0"/>
              <a:t> vulnerabilities and </a:t>
            </a:r>
            <a:r>
              <a:rPr lang="en-GB" sz="3467" b="1" dirty="0"/>
              <a:t>advices</a:t>
            </a:r>
            <a:r>
              <a:rPr lang="en-GB" sz="3467" dirty="0"/>
              <a:t> on fixes</a:t>
            </a:r>
          </a:p>
          <a:p>
            <a:r>
              <a:rPr lang="en-GB" sz="3467" dirty="0"/>
              <a:t>has </a:t>
            </a:r>
            <a:r>
              <a:rPr lang="en-GB" sz="3467" b="1" dirty="0"/>
              <a:t>express permission </a:t>
            </a:r>
            <a:r>
              <a:rPr lang="en-GB" sz="3467" dirty="0"/>
              <a:t>from owner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0322D-6A1C-7645-83A1-C41C827971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92324C1-3C17-9D42-8408-83DB113BF2E9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9216AC-7100-524F-97E3-455EC4DDA3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“Black hat” hacker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646F2F-1195-C14D-BE59-2803B576A3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“White hat” hacker</a:t>
            </a:r>
          </a:p>
        </p:txBody>
      </p:sp>
    </p:spTree>
    <p:extLst>
      <p:ext uri="{BB962C8B-B14F-4D97-AF65-F5344CB8AC3E}">
        <p14:creationId xmlns:p14="http://schemas.microsoft.com/office/powerpoint/2010/main" val="3363068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78DA-FB4D-944A-AAA0-56298E47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Bug Bounty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1E274-B5AA-1A4F-94FD-6EB449CC59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9428EE-887A-AA47-B6F3-A43236030A55}"/>
              </a:ext>
            </a:extLst>
          </p:cNvPr>
          <p:cNvSpPr txBox="1">
            <a:spLocks/>
          </p:cNvSpPr>
          <p:nvPr/>
        </p:nvSpPr>
        <p:spPr>
          <a:xfrm>
            <a:off x="508000" y="1803400"/>
            <a:ext cx="11379200" cy="5486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charset="2"/>
              <a:buChar char="Ø"/>
              <a:defRPr sz="28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charset="2"/>
              <a:buChar char="Ø"/>
              <a:defRPr sz="24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charset="2"/>
              <a:buChar char="Ø"/>
              <a:defRPr sz="20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charset="2"/>
              <a:buChar char="Ø"/>
              <a:defRPr sz="20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charset="2"/>
              <a:buChar char="Ø"/>
              <a:defRPr sz="2000" kern="1200">
                <a:solidFill>
                  <a:schemeClr val="tx1"/>
                </a:solidFill>
                <a:latin typeface="Helvetica Neue"/>
                <a:ea typeface="+mn-ea"/>
                <a:cs typeface="Helvetica Neue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3733" dirty="0"/>
              <a:t>Bug bounty programs offer </a:t>
            </a:r>
            <a:r>
              <a:rPr lang="en-US" sz="3733" b="1" dirty="0"/>
              <a:t>rewards</a:t>
            </a:r>
            <a:r>
              <a:rPr lang="en-US" sz="3733" dirty="0"/>
              <a:t> for reporting bugs and vulnerabilities</a:t>
            </a:r>
          </a:p>
          <a:p>
            <a:r>
              <a:rPr lang="en-US" sz="3733" dirty="0"/>
              <a:t>Be “</a:t>
            </a:r>
            <a:r>
              <a:rPr lang="en-US" sz="3733" b="1" dirty="0"/>
              <a:t>white hat</a:t>
            </a:r>
            <a:r>
              <a:rPr lang="en-US" sz="3733" dirty="0"/>
              <a:t>” and </a:t>
            </a:r>
            <a:r>
              <a:rPr lang="en-US" sz="3733" b="1" dirty="0"/>
              <a:t>comply</a:t>
            </a:r>
            <a:r>
              <a:rPr lang="en-US" sz="3733" dirty="0"/>
              <a:t> to the program terms!</a:t>
            </a:r>
          </a:p>
          <a:p>
            <a:r>
              <a:rPr lang="en-US" sz="3733" dirty="0"/>
              <a:t>Example: </a:t>
            </a:r>
            <a:r>
              <a:rPr lang="en-US" sz="3733" dirty="0">
                <a:hlinkClick r:id="rId2"/>
              </a:rPr>
              <a:t>https://www.facebook.com/whitehat</a:t>
            </a:r>
            <a:endParaRPr lang="en-US" sz="3733" dirty="0"/>
          </a:p>
          <a:p>
            <a:pPr lvl="1"/>
            <a:r>
              <a:rPr lang="en-US" sz="3200" dirty="0"/>
              <a:t>“If you comply with the policies below </a:t>
            </a:r>
            <a:r>
              <a:rPr lang="mr-IN" sz="3200" dirty="0"/>
              <a:t>…</a:t>
            </a:r>
            <a:r>
              <a:rPr lang="en-US" sz="3200" dirty="0"/>
              <a:t> we will not initiate a </a:t>
            </a:r>
            <a:r>
              <a:rPr lang="en-US" sz="3200" b="1" dirty="0"/>
              <a:t>lawsuit or law enforcement investigation</a:t>
            </a:r>
            <a:r>
              <a:rPr lang="en-US" sz="3200" dirty="0"/>
              <a:t> against you in response to your report.”</a:t>
            </a:r>
          </a:p>
          <a:p>
            <a:pPr marL="0" indent="0">
              <a:buNone/>
            </a:pPr>
            <a:endParaRPr lang="en-US" sz="3733" dirty="0"/>
          </a:p>
          <a:p>
            <a:pPr marL="0" indent="0">
              <a:buNone/>
            </a:pPr>
            <a:endParaRPr lang="en-GB" sz="3733" dirty="0"/>
          </a:p>
          <a:p>
            <a:endParaRPr lang="en-GB" sz="3733" dirty="0"/>
          </a:p>
          <a:p>
            <a:endParaRPr lang="en-GB" sz="3733" dirty="0"/>
          </a:p>
        </p:txBody>
      </p:sp>
    </p:spTree>
    <p:extLst>
      <p:ext uri="{BB962C8B-B14F-4D97-AF65-F5344CB8AC3E}">
        <p14:creationId xmlns:p14="http://schemas.microsoft.com/office/powerpoint/2010/main" val="23998541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noProof="0" dirty="0"/>
              <a:t>Introduction </a:t>
            </a:r>
          </a:p>
          <a:p>
            <a:r>
              <a:rPr lang="en-GB" noProof="0" dirty="0"/>
              <a:t>Computer Security </a:t>
            </a:r>
          </a:p>
          <a:p>
            <a:r>
              <a:rPr lang="en-GB" noProof="0" dirty="0"/>
              <a:t>Legal and Ethical Aspects </a:t>
            </a:r>
          </a:p>
          <a:p>
            <a:r>
              <a:rPr lang="en-GB" noProof="0" dirty="0"/>
              <a:t>Introduction to cryptography </a:t>
            </a:r>
          </a:p>
          <a:p>
            <a:endParaRPr lang="en-GB" noProof="0" dirty="0"/>
          </a:p>
        </p:txBody>
      </p:sp>
      <p:sp>
        <p:nvSpPr>
          <p:cNvPr id="5" name="Rectangle 4"/>
          <p:cNvSpPr/>
          <p:nvPr/>
        </p:nvSpPr>
        <p:spPr>
          <a:xfrm>
            <a:off x="406400" y="1905000"/>
            <a:ext cx="9144000" cy="19304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06400" y="4546600"/>
            <a:ext cx="9144000" cy="132397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8390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Cryptography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92324C1-3C17-9D42-8408-83DB113BF2E9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6400800" y="1816383"/>
            <a:ext cx="5181600" cy="707136"/>
          </a:xfrm>
        </p:spPr>
        <p:txBody>
          <a:bodyPr/>
          <a:lstStyle/>
          <a:p>
            <a:r>
              <a:rPr lang="en-GB" noProof="0" dirty="0"/>
              <a:t>Cryptography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812800" y="1816383"/>
            <a:ext cx="5181600" cy="707136"/>
          </a:xfrm>
        </p:spPr>
        <p:txBody>
          <a:bodyPr/>
          <a:lstStyle/>
          <a:p>
            <a:r>
              <a:rPr lang="en-GB" noProof="0" dirty="0"/>
              <a:t>System security</a:t>
            </a:r>
          </a:p>
        </p:txBody>
      </p:sp>
      <p:pic>
        <p:nvPicPr>
          <p:cNvPr id="1030" name="Picture 6" descr="https://lh6.googleusercontent.com/0sg7pP83gBWodiUfU9-TJWaQV6rQTU8lfUK7W1b8cG0oAXhNAq7FGqggG41yfha7jsEG1CGyKIja2U8GErASdKr9bkPg2jgGixUpb-XDa36Nsfr1sjkE5K-o2AF4yshChJGh3PDQ5k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2819400"/>
            <a:ext cx="5181600" cy="331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930142" y="1295401"/>
            <a:ext cx="1791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sz="2400"/>
              <a:t> 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5930142" y="1803401"/>
            <a:ext cx="31122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sz="2400" dirty="0"/>
              <a:t> </a:t>
            </a:r>
            <a:endParaRPr lang="en-US" sz="2400" dirty="0"/>
          </a:p>
        </p:txBody>
      </p:sp>
      <p:pic>
        <p:nvPicPr>
          <p:cNvPr id="14" name="Immagin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801" y="2616200"/>
            <a:ext cx="1905855" cy="3173248"/>
          </a:xfrm>
          <a:prstGeom prst="rect">
            <a:avLst/>
          </a:prstGeom>
        </p:spPr>
      </p:pic>
      <p:sp>
        <p:nvSpPr>
          <p:cNvPr id="15" name="Content Placeholder 15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3657600" cy="3505200"/>
          </a:xfrm>
        </p:spPr>
        <p:txBody>
          <a:bodyPr>
            <a:normAutofit/>
          </a:bodyPr>
          <a:lstStyle/>
          <a:p>
            <a:r>
              <a:rPr lang="en-GB" noProof="0" dirty="0"/>
              <a:t>Protection on the network</a:t>
            </a:r>
          </a:p>
          <a:p>
            <a:r>
              <a:rPr lang="en-GB" noProof="0" dirty="0"/>
              <a:t>Extra layer of protection (e.g. encrypted file-systems)</a:t>
            </a:r>
          </a:p>
          <a:p>
            <a:pPr lvl="1"/>
            <a:endParaRPr lang="en-GB" noProof="0" dirty="0"/>
          </a:p>
          <a:p>
            <a:endParaRPr lang="en-GB" noProof="0" dirty="0"/>
          </a:p>
        </p:txBody>
      </p:sp>
      <p:sp>
        <p:nvSpPr>
          <p:cNvPr id="6" name="Rectangle 5"/>
          <p:cNvSpPr/>
          <p:nvPr/>
        </p:nvSpPr>
        <p:spPr>
          <a:xfrm>
            <a:off x="5930143" y="3182780"/>
            <a:ext cx="253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sz="2400" dirty="0"/>
              <a:t> 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0528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Classic cryptography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2006600"/>
            <a:ext cx="6502400" cy="436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noProof="0" dirty="0"/>
              <a:t>A message is transformed so to make it hard to understand it</a:t>
            </a:r>
          </a:p>
          <a:p>
            <a:pPr marL="0" indent="0">
              <a:buNone/>
            </a:pPr>
            <a:br>
              <a:rPr lang="en-GB" noProof="0" dirty="0"/>
            </a:br>
            <a:r>
              <a:rPr lang="en-GB" b="1" noProof="0" dirty="0"/>
              <a:t>Caesar cipher</a:t>
            </a:r>
            <a:r>
              <a:rPr lang="en-GB" noProof="0" dirty="0"/>
              <a:t>: every letter is replaced by the one which is K positions next in the alphabet</a:t>
            </a:r>
          </a:p>
          <a:p>
            <a:pPr marL="0" indent="0">
              <a:buNone/>
            </a:pP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7" name="image18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24795" y="3022601"/>
            <a:ext cx="1689864" cy="273293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umetto 3 4"/>
          <p:cNvSpPr/>
          <p:nvPr/>
        </p:nvSpPr>
        <p:spPr>
          <a:xfrm>
            <a:off x="7620001" y="1905001"/>
            <a:ext cx="2801079" cy="1153177"/>
          </a:xfrm>
          <a:prstGeom prst="wedgeEllipseCallout">
            <a:avLst>
              <a:gd name="adj1" fmla="val 42051"/>
              <a:gd name="adj2" fmla="val 105122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it-IT" sz="3733" dirty="0"/>
              <a:t>GRPAV!</a:t>
            </a:r>
          </a:p>
        </p:txBody>
      </p:sp>
    </p:spTree>
    <p:extLst>
      <p:ext uri="{BB962C8B-B14F-4D97-AF65-F5344CB8AC3E}">
        <p14:creationId xmlns:p14="http://schemas.microsoft.com/office/powerpoint/2010/main" val="59742240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Brute forcing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sz="12800" dirty="0"/>
              <a:t>Example: RPTHPGRXEWTGDCANWPHILTCINHXMKPGXPCIHIWPILTRPCTPHXANQGJITUDGRT </a:t>
            </a:r>
          </a:p>
          <a:p>
            <a:r>
              <a:rPr lang="en-GB" sz="12800" dirty="0"/>
              <a:t>try all the 26 possibilities:</a:t>
            </a:r>
          </a:p>
          <a:p>
            <a:pPr marL="0" indent="0">
              <a:buNone/>
            </a:pPr>
            <a:br>
              <a:rPr lang="en-GB" noProof="0" dirty="0"/>
            </a:br>
            <a:endParaRPr lang="en-GB" noProof="0" dirty="0"/>
          </a:p>
          <a:p>
            <a:pPr marL="0" indent="0">
              <a:buNone/>
            </a:pPr>
            <a:r>
              <a:rPr lang="en-GB" sz="7466" dirty="0"/>
              <a:t>0 RPTHPGRXEWTGDCANWPHILTCINHXMKPGXPCIHIWPILTRPCTPHXANQGJITUDGRT</a:t>
            </a:r>
          </a:p>
          <a:p>
            <a:pPr marL="0" indent="0">
              <a:buNone/>
            </a:pPr>
            <a:r>
              <a:rPr lang="en-GB" sz="7466" dirty="0"/>
              <a:t>1 QOSGOFQWDVSFCBZMVOGHKSBHMGWLJOFWOBHGHVOHKSQOBSOGWZMPFIHSTCFQS</a:t>
            </a:r>
          </a:p>
          <a:p>
            <a:pPr marL="0" indent="0">
              <a:buNone/>
            </a:pPr>
            <a:r>
              <a:rPr lang="en-GB" sz="7466" dirty="0"/>
              <a:t>...</a:t>
            </a:r>
          </a:p>
          <a:p>
            <a:pPr marL="0" indent="0">
              <a:buNone/>
            </a:pPr>
            <a:r>
              <a:rPr lang="en-GB" sz="7466" b="1" dirty="0"/>
              <a:t>15 CAESARCIPHERONLYHASTWENTYSIXVARIANTSTHATWECANEASILYBRUTEFORCE</a:t>
            </a:r>
            <a:endParaRPr lang="en-GB" sz="7466" dirty="0"/>
          </a:p>
          <a:p>
            <a:pPr marL="0" indent="0">
              <a:buNone/>
            </a:pPr>
            <a:r>
              <a:rPr lang="en-GB" sz="7466" dirty="0"/>
              <a:t>...</a:t>
            </a:r>
          </a:p>
          <a:p>
            <a:pPr marL="0" indent="0">
              <a:buNone/>
            </a:pPr>
            <a:r>
              <a:rPr lang="en-GB" sz="7466" dirty="0"/>
              <a:t>25 SQUIQHSYFXUHEDBOXQIJMUDJOIYNLQHYQDJIJXQJMUSQDUQIYBORHKJUVEHSU</a:t>
            </a:r>
            <a:br>
              <a:rPr lang="en-GB" sz="3333" dirty="0"/>
            </a:br>
            <a:endParaRPr lang="en-GB" sz="3333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06646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Modern cryptography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10668000" cy="4368800"/>
          </a:xfrm>
        </p:spPr>
        <p:txBody>
          <a:bodyPr>
            <a:normAutofit/>
          </a:bodyPr>
          <a:lstStyle/>
          <a:p>
            <a:r>
              <a:rPr lang="en-GB" noProof="0" dirty="0"/>
              <a:t>Modern ciphers are very complex and use </a:t>
            </a:r>
            <a:r>
              <a:rPr lang="en-GB" b="1" noProof="0" dirty="0"/>
              <a:t>keys</a:t>
            </a:r>
            <a:r>
              <a:rPr lang="en-GB" noProof="0" dirty="0"/>
              <a:t> of at least </a:t>
            </a:r>
            <a:r>
              <a:rPr lang="en-GB" b="1" noProof="0" dirty="0"/>
              <a:t>128 bits</a:t>
            </a:r>
            <a:r>
              <a:rPr lang="en-GB" noProof="0" dirty="0"/>
              <a:t>:</a:t>
            </a:r>
          </a:p>
          <a:p>
            <a:endParaRPr lang="en-GB" noProof="0" dirty="0"/>
          </a:p>
          <a:p>
            <a:pPr marL="0" indent="0" algn="ctr">
              <a:buNone/>
            </a:pPr>
            <a:r>
              <a:rPr lang="en-GB" noProof="0" dirty="0"/>
              <a:t>about </a:t>
            </a:r>
            <a:r>
              <a:rPr lang="en-GB" b="1" noProof="0" dirty="0"/>
              <a:t>3.40282367 × 10</a:t>
            </a:r>
            <a:r>
              <a:rPr lang="en-GB" b="1" baseline="30000" noProof="0" dirty="0"/>
              <a:t>38 </a:t>
            </a:r>
            <a:r>
              <a:rPr lang="en-GB" noProof="0" dirty="0"/>
              <a:t>different keys</a:t>
            </a:r>
          </a:p>
          <a:p>
            <a:pPr marL="0" indent="0" algn="ctr">
              <a:buNone/>
            </a:pPr>
            <a:endParaRPr lang="en-GB" dirty="0"/>
          </a:p>
          <a:p>
            <a:r>
              <a:rPr lang="en-GB" noProof="0" dirty="0"/>
              <a:t>Brute-forcing is </a:t>
            </a:r>
            <a:r>
              <a:rPr lang="en-GB" b="1" noProof="0" dirty="0"/>
              <a:t>unfeasible</a:t>
            </a:r>
            <a:r>
              <a:rPr lang="en-GB" noProof="0" dirty="0"/>
              <a:t>!</a:t>
            </a:r>
          </a:p>
          <a:p>
            <a:endParaRPr lang="en-GB" b="1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98722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Cryptography on the Web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30143" y="3182780"/>
            <a:ext cx="253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sz="2400" dirty="0"/>
              <a:t> </a:t>
            </a:r>
            <a:endParaRPr lang="en-US" sz="2400" dirty="0"/>
          </a:p>
        </p:txBody>
      </p:sp>
      <p:pic>
        <p:nvPicPr>
          <p:cNvPr id="7" name="image19.png" descr="Screen Shot 2014-05-22 at 11.30.41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3200" y="1803400"/>
            <a:ext cx="6385672" cy="436499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86616979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HTTP vs. HTTPS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30143" y="3182780"/>
            <a:ext cx="253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sz="2400" dirty="0"/>
              <a:t> </a:t>
            </a:r>
            <a:endParaRPr lang="en-US" sz="2400" dirty="0"/>
          </a:p>
        </p:txBody>
      </p:sp>
      <p:pic>
        <p:nvPicPr>
          <p:cNvPr id="6" name="image20.png" descr="Screen Shot 2014-05-22 at 11.34.19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8000" y="2108200"/>
            <a:ext cx="5283200" cy="401361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/>
          <p:cNvSpPr txBox="1"/>
          <p:nvPr/>
        </p:nvSpPr>
        <p:spPr>
          <a:xfrm>
            <a:off x="6572597" y="436695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pic>
        <p:nvPicPr>
          <p:cNvPr id="8" name="image21.png" descr="Screen Shot 2014-05-22 at 11.38.16.png"/>
          <p:cNvPicPr>
            <a:picLocks noGrp="1"/>
          </p:cNvPicPr>
          <p:nvPr>
            <p:ph idx="4294967295"/>
          </p:nvPr>
        </p:nvPicPr>
        <p:blipFill>
          <a:blip r:embed="rId4">
            <a:extLst/>
          </a:blip>
          <a:srcRect t="8804" b="8804"/>
          <a:stretch>
            <a:fillRect/>
          </a:stretch>
        </p:blipFill>
        <p:spPr>
          <a:xfrm>
            <a:off x="5994400" y="2108200"/>
            <a:ext cx="5892800" cy="39624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Oval 8"/>
          <p:cNvSpPr/>
          <p:nvPr/>
        </p:nvSpPr>
        <p:spPr>
          <a:xfrm>
            <a:off x="1828800" y="4546600"/>
            <a:ext cx="1422400" cy="3048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ight Arrow 9"/>
          <p:cNvSpPr/>
          <p:nvPr/>
        </p:nvSpPr>
        <p:spPr>
          <a:xfrm rot="1094508">
            <a:off x="767749" y="4092781"/>
            <a:ext cx="1144176" cy="544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02251432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Pervasive cryptography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30143" y="3182780"/>
            <a:ext cx="253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sz="2400" dirty="0"/>
              <a:t> 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572597" y="436695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pic>
        <p:nvPicPr>
          <p:cNvPr id="10" name="image3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7601" y="2108201"/>
            <a:ext cx="2106969" cy="16535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37.png"/>
          <p:cNvPicPr/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97600" y="2006601"/>
            <a:ext cx="1829781" cy="23525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image15.png"/>
          <p:cNvPicPr/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14401" y="3835400"/>
            <a:ext cx="1331463" cy="20276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image17.png"/>
          <p:cNvPicPr/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38401" y="3835400"/>
            <a:ext cx="1521060" cy="12624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image38.png"/>
          <p:cNvPicPr/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502401" y="5156200"/>
            <a:ext cx="1521060" cy="781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39.png"/>
          <p:cNvPicPr/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042401" y="3733801"/>
            <a:ext cx="2425119" cy="21410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40.png"/>
          <p:cNvPicPr/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048001" y="5156201"/>
            <a:ext cx="2148393" cy="14474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41.png"/>
          <p:cNvPicPr/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737601" y="2006600"/>
            <a:ext cx="2353948" cy="1519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image42.png"/>
          <p:cNvPicPr/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064001" y="3632200"/>
            <a:ext cx="2174591" cy="1355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43.png"/>
          <p:cNvPicPr/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759200" y="1803400"/>
            <a:ext cx="1825483" cy="161190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3728158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Bank cryptography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2209800"/>
            <a:ext cx="5080000" cy="4368800"/>
          </a:xfrm>
        </p:spPr>
        <p:txBody>
          <a:bodyPr>
            <a:normAutofit/>
          </a:bodyPr>
          <a:lstStyle/>
          <a:p>
            <a:r>
              <a:rPr lang="en-GB" noProof="0" dirty="0"/>
              <a:t>Payments, ATMs, money transfers, ...</a:t>
            </a:r>
          </a:p>
          <a:p>
            <a:r>
              <a:rPr lang="en-GB" b="1" noProof="0" dirty="0"/>
              <a:t>Hardware Security Module </a:t>
            </a:r>
            <a:r>
              <a:rPr lang="en-GB" noProof="0" dirty="0"/>
              <a:t>(HSM)</a:t>
            </a:r>
          </a:p>
          <a:p>
            <a:r>
              <a:rPr lang="en-GB" noProof="0" dirty="0"/>
              <a:t>Costs about 5k-20k € for a market of 200M € a year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0" y="3124200"/>
            <a:ext cx="4242789" cy="1671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202192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But things can go wrong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2209800"/>
            <a:ext cx="5080000" cy="4368800"/>
          </a:xfrm>
        </p:spPr>
        <p:txBody>
          <a:bodyPr/>
          <a:lstStyle/>
          <a:p>
            <a:r>
              <a:rPr lang="en-GB" noProof="0" dirty="0"/>
              <a:t>20 February 2013</a:t>
            </a:r>
          </a:p>
          <a:p>
            <a:r>
              <a:rPr lang="en-GB" b="1" noProof="0" dirty="0"/>
              <a:t>35 000 000 € </a:t>
            </a:r>
            <a:r>
              <a:rPr lang="en-GB" noProof="0" dirty="0"/>
              <a:t>stolen from ATMs in </a:t>
            </a:r>
            <a:r>
              <a:rPr lang="en-GB" b="1" noProof="0" dirty="0"/>
              <a:t>less than 10 hours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6" name="image18.jpeg" descr="NYheistPhoto.jp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05601" y="2209801"/>
            <a:ext cx="3746657" cy="337819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70029407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 1: </a:t>
            </a:r>
            <a:r>
              <a:rPr lang="en-GB" noProof="0" dirty="0" err="1"/>
              <a:t>Heartbleed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812800" y="2006600"/>
            <a:ext cx="7620000" cy="4368800"/>
          </a:xfrm>
        </p:spPr>
        <p:txBody>
          <a:bodyPr>
            <a:normAutofit/>
          </a:bodyPr>
          <a:lstStyle/>
          <a:p>
            <a:r>
              <a:rPr lang="en-GB" noProof="0" dirty="0"/>
              <a:t>Vulnerability in </a:t>
            </a:r>
            <a:r>
              <a:rPr lang="en-GB" noProof="0" dirty="0" err="1"/>
              <a:t>OpenSSL</a:t>
            </a:r>
            <a:r>
              <a:rPr lang="en-GB" noProof="0" dirty="0"/>
              <a:t>, the protocol underneath https</a:t>
            </a:r>
          </a:p>
          <a:p>
            <a:r>
              <a:rPr lang="en-GB" noProof="0" dirty="0"/>
              <a:t>An </a:t>
            </a:r>
            <a:r>
              <a:rPr lang="en-GB" i="1" noProof="0" dirty="0"/>
              <a:t>over-read </a:t>
            </a:r>
            <a:r>
              <a:rPr lang="en-GB" noProof="0" dirty="0"/>
              <a:t>allows for accessing process memory where </a:t>
            </a:r>
            <a:r>
              <a:rPr lang="en-GB" b="1" noProof="0" dirty="0"/>
              <a:t>server keys</a:t>
            </a:r>
            <a:r>
              <a:rPr lang="en-GB" noProof="0" dirty="0"/>
              <a:t> are stored</a:t>
            </a:r>
          </a:p>
          <a:p>
            <a:r>
              <a:rPr lang="en-GB" noProof="0" dirty="0"/>
              <a:t>Once those keys are leaked it is possible to </a:t>
            </a:r>
            <a:r>
              <a:rPr lang="en-GB" b="1" noProof="0" dirty="0"/>
              <a:t>impersonate the server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5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400" y="2514601"/>
            <a:ext cx="2306432" cy="27934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839200" y="54610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" charset="0"/>
              </a:rPr>
              <a:t>http://</a:t>
            </a:r>
            <a:r>
              <a:rPr lang="en-US" sz="2400" dirty="0" err="1">
                <a:solidFill>
                  <a:srgbClr val="000000"/>
                </a:solidFill>
                <a:latin typeface="Arial" charset="0"/>
              </a:rPr>
              <a:t>heartbleed.com</a:t>
            </a:r>
            <a:r>
              <a:rPr lang="en-US" sz="2400" dirty="0">
                <a:solidFill>
                  <a:srgbClr val="000000"/>
                </a:solidFill>
                <a:latin typeface="Arial" charset="0"/>
              </a:rPr>
              <a:t>/</a:t>
            </a:r>
            <a:endParaRPr lang="en-US" sz="2400" dirty="0"/>
          </a:p>
          <a:p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618007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19104</TotalTime>
  <Words>2054</Words>
  <Application>Microsoft Macintosh PowerPoint</Application>
  <PresentationFormat>Widescreen</PresentationFormat>
  <Paragraphs>457</Paragraphs>
  <Slides>54</Slides>
  <Notes>26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54</vt:i4>
      </vt:variant>
    </vt:vector>
  </HeadingPairs>
  <TitlesOfParts>
    <vt:vector size="63" baseType="lpstr">
      <vt:lpstr>Arial</vt:lpstr>
      <vt:lpstr>Calibri</vt:lpstr>
      <vt:lpstr>Calibri Light</vt:lpstr>
      <vt:lpstr>Helvetica Neue</vt:lpstr>
      <vt:lpstr>Mangal</vt:lpstr>
      <vt:lpstr>Open Sans</vt:lpstr>
      <vt:lpstr>Tahoma</vt:lpstr>
      <vt:lpstr>Wingdings</vt:lpstr>
      <vt:lpstr>Tema di Office</vt:lpstr>
      <vt:lpstr>Introduzione alla Sicurezza</vt:lpstr>
      <vt:lpstr>Summary</vt:lpstr>
      <vt:lpstr>Course Outline</vt:lpstr>
      <vt:lpstr>Sicurezza …</vt:lpstr>
      <vt:lpstr>Sicurezza non è  </vt:lpstr>
      <vt:lpstr>Sicurezza non è crittografia</vt:lpstr>
      <vt:lpstr>Sicurezza non è password</vt:lpstr>
      <vt:lpstr>Sicurezza non è firewall</vt:lpstr>
      <vt:lpstr>Sicurezza non è firewall</vt:lpstr>
      <vt:lpstr>Sicurezza</vt:lpstr>
      <vt:lpstr>Minacce nuove – automazione</vt:lpstr>
      <vt:lpstr>Minacce nuove – distanza</vt:lpstr>
      <vt:lpstr>Minacce nuove – tecniche diffuse</vt:lpstr>
      <vt:lpstr>Come proteggersi?</vt:lpstr>
      <vt:lpstr>Come proteggersi?</vt:lpstr>
      <vt:lpstr>Piano di Sicurezza</vt:lpstr>
      <vt:lpstr>Soluzioni contro gli attacchi informatici</vt:lpstr>
      <vt:lpstr>I conti con la realtà</vt:lpstr>
      <vt:lpstr>Stato dell’arte in Sicurezza</vt:lpstr>
      <vt:lpstr>Definizione di Sicurezza Informatica</vt:lpstr>
      <vt:lpstr>Presentazione standard di PowerPoint</vt:lpstr>
      <vt:lpstr>Presentazione standard di PowerPoint</vt:lpstr>
      <vt:lpstr>Computer Security</vt:lpstr>
      <vt:lpstr>Information Assurance vs CyberSecurity vs Computer Security</vt:lpstr>
      <vt:lpstr>Why so much interest?</vt:lpstr>
      <vt:lpstr>Examples of threats</vt:lpstr>
      <vt:lpstr>Security Properties</vt:lpstr>
      <vt:lpstr>Confidentiality</vt:lpstr>
      <vt:lpstr>Integrity</vt:lpstr>
      <vt:lpstr>Availability</vt:lpstr>
      <vt:lpstr>Authenticity</vt:lpstr>
      <vt:lpstr>Accountability</vt:lpstr>
      <vt:lpstr>Classes of attacks</vt:lpstr>
      <vt:lpstr>Eavesdropping</vt:lpstr>
      <vt:lpstr>Modification</vt:lpstr>
      <vt:lpstr>Interrupting</vt:lpstr>
      <vt:lpstr>Forging</vt:lpstr>
      <vt:lpstr>Vulnerability</vt:lpstr>
      <vt:lpstr>Outline</vt:lpstr>
      <vt:lpstr>Cybercrime</vt:lpstr>
      <vt:lpstr>Cybercrime</vt:lpstr>
      <vt:lpstr>Ethical hacking</vt:lpstr>
      <vt:lpstr>Bug Bounty</vt:lpstr>
      <vt:lpstr>Outline</vt:lpstr>
      <vt:lpstr>Cryptography</vt:lpstr>
      <vt:lpstr>Classic cryptography</vt:lpstr>
      <vt:lpstr>Brute forcing</vt:lpstr>
      <vt:lpstr>Modern cryptography</vt:lpstr>
      <vt:lpstr>Cryptography on the Web</vt:lpstr>
      <vt:lpstr>HTTP vs. HTTPS</vt:lpstr>
      <vt:lpstr>Pervasive cryptography</vt:lpstr>
      <vt:lpstr>Bank cryptography</vt:lpstr>
      <vt:lpstr>But things can go wrong</vt:lpstr>
      <vt:lpstr>Example 1: Heartbleed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Stefano Bistarelli</dc:creator>
  <cp:lastModifiedBy>Stefano Bistarelli</cp:lastModifiedBy>
  <cp:revision>13</cp:revision>
  <dcterms:created xsi:type="dcterms:W3CDTF">2019-11-18T13:24:12Z</dcterms:created>
  <dcterms:modified xsi:type="dcterms:W3CDTF">2020-09-28T10:26:41Z</dcterms:modified>
</cp:coreProperties>
</file>